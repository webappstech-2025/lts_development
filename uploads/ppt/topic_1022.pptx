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  <p:embeddedFontLst>
    <p:embeddedFont>
      <p:font typeface="Alice"/>
      <p:regular r:id="rId17"/>
    </p:embeddedFont>
    <p:embeddedFont>
      <p:font typeface="Alice"/>
      <p:regular r:id="rId18"/>
    </p:embeddedFont>
    <p:embeddedFont>
      <p:font typeface="Lora"/>
      <p:regular r:id="rId19"/>
    </p:embeddedFont>
    <p:embeddedFont>
      <p:font typeface="Lora"/>
      <p:regular r:id="rId20"/>
    </p:embeddedFont>
    <p:embeddedFont>
      <p:font typeface="Lora"/>
      <p:regular r:id="rId21"/>
    </p:embeddedFont>
    <p:embeddedFont>
      <p:font typeface="Lora"/>
      <p:regular r:id="rId22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Relationship Id="rId22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3.png"/><Relationship Id="rId4" Type="http://schemas.openxmlformats.org/officeDocument/2006/relationships/image" Target="../media/image-5-4.svg"/><Relationship Id="rId5" Type="http://schemas.openxmlformats.org/officeDocument/2006/relationships/image" Target="../media/image-5-5.png"/><Relationship Id="rId6" Type="http://schemas.openxmlformats.org/officeDocument/2006/relationships/image" Target="../media/image-5-6.svg"/><Relationship Id="rId7" Type="http://schemas.openxmlformats.org/officeDocument/2006/relationships/slideLayout" Target="../slideLayouts/slideLayout6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3.png"/><Relationship Id="rId4" Type="http://schemas.openxmlformats.org/officeDocument/2006/relationships/image" Target="../media/image-8-4.svg"/><Relationship Id="rId5" Type="http://schemas.openxmlformats.org/officeDocument/2006/relationships/image" Target="../media/image-8-5.png"/><Relationship Id="rId6" Type="http://schemas.openxmlformats.org/officeDocument/2006/relationships/image" Target="../media/image-8-6.svg"/><Relationship Id="rId7" Type="http://schemas.openxmlformats.org/officeDocument/2006/relationships/slideLayout" Target="../slideLayouts/slideLayout9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0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3227427"/>
            <a:ext cx="7435334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Election Commission of India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4276368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An autonomous constitutional authority safeguarding India's democratic foundation through free and fair elections since 1950.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510076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What is the Election Commission?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4267795"/>
            <a:ext cx="7556421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The Election Commission of India is an autonomous constitutional body established on 25th January 1950, three days before India became a republic. It operates independently of government control to oversee the entire electoral process across the nation.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49617"/>
            <a:ext cx="630936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Organisational Structure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1912025"/>
            <a:ext cx="1630323" cy="1306949"/>
          </a:xfrm>
          <a:prstGeom prst="roundRect">
            <a:avLst>
              <a:gd name="adj" fmla="val 2603"/>
            </a:avLst>
          </a:prstGeom>
          <a:solidFill>
            <a:srgbClr val="F0EDE6"/>
          </a:solidFill>
          <a:ln/>
        </p:spPr>
      </p:sp>
      <p:sp>
        <p:nvSpPr>
          <p:cNvPr id="4" name="Text 2"/>
          <p:cNvSpPr/>
          <p:nvPr/>
        </p:nvSpPr>
        <p:spPr>
          <a:xfrm>
            <a:off x="1449467" y="2366129"/>
            <a:ext cx="318968" cy="398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000"/>
              </a:lnSpc>
              <a:buNone/>
            </a:pPr>
            <a:r>
              <a:rPr lang="en-US" sz="25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1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2650927" y="2138839"/>
            <a:ext cx="367164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Chief Election Commissioner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650927" y="2629257"/>
            <a:ext cx="509301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Head of the Commission with ultimate authority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2537460" y="3203734"/>
            <a:ext cx="11185803" cy="15240"/>
          </a:xfrm>
          <a:prstGeom prst="roundRect">
            <a:avLst>
              <a:gd name="adj" fmla="val 223256"/>
            </a:avLst>
          </a:prstGeom>
          <a:solidFill>
            <a:srgbClr val="D6D3CC"/>
          </a:solidFill>
          <a:ln/>
        </p:spPr>
      </p:sp>
      <p:sp>
        <p:nvSpPr>
          <p:cNvPr id="8" name="Shape 6"/>
          <p:cNvSpPr/>
          <p:nvPr/>
        </p:nvSpPr>
        <p:spPr>
          <a:xfrm>
            <a:off x="793790" y="3332321"/>
            <a:ext cx="3260646" cy="1306949"/>
          </a:xfrm>
          <a:prstGeom prst="roundRect">
            <a:avLst>
              <a:gd name="adj" fmla="val 2603"/>
            </a:avLst>
          </a:prstGeom>
          <a:solidFill>
            <a:srgbClr val="F0EDE6"/>
          </a:solidFill>
          <a:ln/>
        </p:spPr>
      </p:sp>
      <p:sp>
        <p:nvSpPr>
          <p:cNvPr id="9" name="Text 7"/>
          <p:cNvSpPr/>
          <p:nvPr/>
        </p:nvSpPr>
        <p:spPr>
          <a:xfrm>
            <a:off x="2264569" y="3786426"/>
            <a:ext cx="318968" cy="398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000"/>
              </a:lnSpc>
              <a:buNone/>
            </a:pPr>
            <a:r>
              <a:rPr lang="en-US" sz="25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2</a:t>
            </a:r>
            <a:endParaRPr lang="en-US" sz="2500" dirty="0"/>
          </a:p>
        </p:txBody>
      </p:sp>
      <p:sp>
        <p:nvSpPr>
          <p:cNvPr id="10" name="Text 8"/>
          <p:cNvSpPr/>
          <p:nvPr/>
        </p:nvSpPr>
        <p:spPr>
          <a:xfrm>
            <a:off x="4281249" y="3559135"/>
            <a:ext cx="387346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Other Election Commissioners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281249" y="4049554"/>
            <a:ext cx="446508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Supporting members appointed as needed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4167783" y="4624030"/>
            <a:ext cx="9555480" cy="15240"/>
          </a:xfrm>
          <a:prstGeom prst="roundRect">
            <a:avLst>
              <a:gd name="adj" fmla="val 223256"/>
            </a:avLst>
          </a:prstGeom>
          <a:solidFill>
            <a:srgbClr val="D6D3CC"/>
          </a:solidFill>
          <a:ln/>
        </p:spPr>
      </p:sp>
      <p:sp>
        <p:nvSpPr>
          <p:cNvPr id="13" name="Shape 11"/>
          <p:cNvSpPr/>
          <p:nvPr/>
        </p:nvSpPr>
        <p:spPr>
          <a:xfrm>
            <a:off x="793790" y="4752618"/>
            <a:ext cx="4890968" cy="1306949"/>
          </a:xfrm>
          <a:prstGeom prst="roundRect">
            <a:avLst>
              <a:gd name="adj" fmla="val 2603"/>
            </a:avLst>
          </a:prstGeom>
          <a:solidFill>
            <a:srgbClr val="F0EDE6"/>
          </a:solidFill>
          <a:ln/>
        </p:spPr>
      </p:sp>
      <p:sp>
        <p:nvSpPr>
          <p:cNvPr id="14" name="Text 12"/>
          <p:cNvSpPr/>
          <p:nvPr/>
        </p:nvSpPr>
        <p:spPr>
          <a:xfrm>
            <a:off x="3079790" y="5206722"/>
            <a:ext cx="318968" cy="398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000"/>
              </a:lnSpc>
              <a:buNone/>
            </a:pPr>
            <a:r>
              <a:rPr lang="en-US" sz="25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3</a:t>
            </a:r>
            <a:endParaRPr lang="en-US" sz="2500" dirty="0"/>
          </a:p>
        </p:txBody>
      </p:sp>
      <p:sp>
        <p:nvSpPr>
          <p:cNvPr id="15" name="Text 13"/>
          <p:cNvSpPr/>
          <p:nvPr/>
        </p:nvSpPr>
        <p:spPr>
          <a:xfrm>
            <a:off x="5911572" y="497943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Secretariat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911572" y="5469850"/>
            <a:ext cx="451604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Administrative staff and support personnel</a:t>
            </a:r>
            <a:endParaRPr lang="en-US" sz="1750" dirty="0"/>
          </a:p>
        </p:txBody>
      </p:sp>
      <p:sp>
        <p:nvSpPr>
          <p:cNvPr id="17" name="Shape 15"/>
          <p:cNvSpPr/>
          <p:nvPr/>
        </p:nvSpPr>
        <p:spPr>
          <a:xfrm>
            <a:off x="5798106" y="6044327"/>
            <a:ext cx="7925157" cy="15240"/>
          </a:xfrm>
          <a:prstGeom prst="roundRect">
            <a:avLst>
              <a:gd name="adj" fmla="val 223256"/>
            </a:avLst>
          </a:prstGeom>
          <a:solidFill>
            <a:srgbClr val="D6D3CC"/>
          </a:solidFill>
          <a:ln/>
        </p:spPr>
      </p:sp>
      <p:sp>
        <p:nvSpPr>
          <p:cNvPr id="18" name="Shape 16"/>
          <p:cNvSpPr/>
          <p:nvPr/>
        </p:nvSpPr>
        <p:spPr>
          <a:xfrm>
            <a:off x="793790" y="6172914"/>
            <a:ext cx="6521410" cy="1306949"/>
          </a:xfrm>
          <a:prstGeom prst="roundRect">
            <a:avLst>
              <a:gd name="adj" fmla="val 2603"/>
            </a:avLst>
          </a:prstGeom>
          <a:solidFill>
            <a:srgbClr val="F0EDE6"/>
          </a:solidFill>
          <a:ln/>
        </p:spPr>
      </p:sp>
      <p:sp>
        <p:nvSpPr>
          <p:cNvPr id="19" name="Text 17"/>
          <p:cNvSpPr/>
          <p:nvPr/>
        </p:nvSpPr>
        <p:spPr>
          <a:xfrm>
            <a:off x="3895011" y="6627019"/>
            <a:ext cx="318968" cy="398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000"/>
              </a:lnSpc>
              <a:buNone/>
            </a:pPr>
            <a:r>
              <a:rPr lang="en-US" sz="25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4</a:t>
            </a:r>
            <a:endParaRPr lang="en-US" sz="2500" dirty="0"/>
          </a:p>
        </p:txBody>
      </p:sp>
      <p:sp>
        <p:nvSpPr>
          <p:cNvPr id="20" name="Text 18"/>
          <p:cNvSpPr/>
          <p:nvPr/>
        </p:nvSpPr>
        <p:spPr>
          <a:xfrm>
            <a:off x="7542014" y="6399728"/>
            <a:ext cx="351639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State Election Commissions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7542014" y="6890147"/>
            <a:ext cx="5651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Regional offices across all states and union territories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23342"/>
            <a:ext cx="7346394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Chief Election Commissioner</a:t>
            </a:r>
            <a:endParaRPr lang="en-US" sz="4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2327434"/>
            <a:ext cx="8284131" cy="462367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38943" y="250448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Role &amp; Authority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9638943" y="3085624"/>
            <a:ext cx="4205168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The CEC leads the Election Commission and ensures all elections are conducted fairly and transparently across India.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9638943" y="476404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Tenure Details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9638943" y="5345192"/>
            <a:ext cx="4205168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Commissioners serve for 6 years or until age 65, whichever comes first. This fixed tenure protects independence from political pressure.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063591"/>
            <a:ext cx="643640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Core Powers &amp; Functions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3225998"/>
            <a:ext cx="4196358" cy="2940010"/>
          </a:xfrm>
          <a:prstGeom prst="roundRect">
            <a:avLst>
              <a:gd name="adj" fmla="val 1157"/>
            </a:avLst>
          </a:prstGeom>
          <a:solidFill>
            <a:srgbClr val="F0EDE6"/>
          </a:solidFill>
          <a:ln/>
        </p:spPr>
      </p:sp>
      <p:sp>
        <p:nvSpPr>
          <p:cNvPr id="4" name="Shape 2"/>
          <p:cNvSpPr/>
          <p:nvPr/>
        </p:nvSpPr>
        <p:spPr>
          <a:xfrm>
            <a:off x="1020604" y="3452813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1B5F39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07770" y="3639860"/>
            <a:ext cx="306110" cy="30611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20604" y="436006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Conduct Elections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020604" y="4850487"/>
            <a:ext cx="374273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Oversees polls for Lok Sabha, Rajya Sabha, state assemblies, President, and Vice President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5216962" y="3225998"/>
            <a:ext cx="4196358" cy="2940010"/>
          </a:xfrm>
          <a:prstGeom prst="roundRect">
            <a:avLst>
              <a:gd name="adj" fmla="val 1157"/>
            </a:avLst>
          </a:prstGeom>
          <a:solidFill>
            <a:srgbClr val="F0EDE6"/>
          </a:solidFill>
          <a:ln/>
        </p:spPr>
      </p:sp>
      <p:sp>
        <p:nvSpPr>
          <p:cNvPr id="9" name="Shape 6"/>
          <p:cNvSpPr/>
          <p:nvPr/>
        </p:nvSpPr>
        <p:spPr>
          <a:xfrm>
            <a:off x="5443776" y="3452813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1B5F39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30942" y="3639860"/>
            <a:ext cx="306110" cy="30611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443776" y="4360069"/>
            <a:ext cx="287964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Prepare Electoral Rolls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5443776" y="4850487"/>
            <a:ext cx="374273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Maintains updated voter lists and ensures accurate registration of eligible citizens</a:t>
            </a:r>
            <a:endParaRPr lang="en-US" sz="1750" dirty="0"/>
          </a:p>
        </p:txBody>
      </p:sp>
      <p:sp>
        <p:nvSpPr>
          <p:cNvPr id="13" name="Shape 9"/>
          <p:cNvSpPr/>
          <p:nvPr/>
        </p:nvSpPr>
        <p:spPr>
          <a:xfrm>
            <a:off x="9640133" y="3225998"/>
            <a:ext cx="4196358" cy="2940010"/>
          </a:xfrm>
          <a:prstGeom prst="roundRect">
            <a:avLst>
              <a:gd name="adj" fmla="val 1157"/>
            </a:avLst>
          </a:prstGeom>
          <a:solidFill>
            <a:srgbClr val="F0EDE6"/>
          </a:solidFill>
          <a:ln/>
        </p:spPr>
      </p:sp>
      <p:sp>
        <p:nvSpPr>
          <p:cNvPr id="14" name="Shape 10"/>
          <p:cNvSpPr/>
          <p:nvPr/>
        </p:nvSpPr>
        <p:spPr>
          <a:xfrm>
            <a:off x="9866948" y="3452813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1B5F39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054114" y="3639860"/>
            <a:ext cx="306110" cy="30611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866948" y="4360069"/>
            <a:ext cx="360390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Announce Election Schedule</a:t>
            </a:r>
            <a:endParaRPr lang="en-US" sz="2200" dirty="0"/>
          </a:p>
        </p:txBody>
      </p:sp>
      <p:sp>
        <p:nvSpPr>
          <p:cNvPr id="17" name="Text 12"/>
          <p:cNvSpPr/>
          <p:nvPr/>
        </p:nvSpPr>
        <p:spPr>
          <a:xfrm>
            <a:off x="9866948" y="4850487"/>
            <a:ext cx="37427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Declares polling dates, phases, and timelines for each electoral cycle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217182"/>
            <a:ext cx="639210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Additional Key Functions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379589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Alice Light" pitchFamily="34" charset="0"/>
                <a:ea typeface="Alice Light" pitchFamily="34" charset="-122"/>
                <a:cs typeface="Alice Light" pitchFamily="34" charset="-120"/>
              </a:rPr>
              <a:t>01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3734633"/>
            <a:ext cx="4196358" cy="30480"/>
          </a:xfrm>
          <a:prstGeom prst="rect">
            <a:avLst/>
          </a:prstGeom>
          <a:solidFill>
            <a:srgbClr val="1B5F39"/>
          </a:solidFill>
          <a:ln/>
        </p:spPr>
      </p:sp>
      <p:sp>
        <p:nvSpPr>
          <p:cNvPr id="5" name="Text 3"/>
          <p:cNvSpPr/>
          <p:nvPr/>
        </p:nvSpPr>
        <p:spPr>
          <a:xfrm>
            <a:off x="793790" y="3908941"/>
            <a:ext cx="306407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Monitor Political Parties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93790" y="4399359"/>
            <a:ext cx="419635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Supervises party activities, funding, and compliance with regulations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5216962" y="3379589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Alice Light" pitchFamily="34" charset="0"/>
                <a:ea typeface="Alice Light" pitchFamily="34" charset="-122"/>
                <a:cs typeface="Alice Light" pitchFamily="34" charset="-120"/>
              </a:rPr>
              <a:t>02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5216962" y="3734633"/>
            <a:ext cx="4196358" cy="30480"/>
          </a:xfrm>
          <a:prstGeom prst="rect">
            <a:avLst/>
          </a:prstGeom>
          <a:solidFill>
            <a:srgbClr val="1B5F39"/>
          </a:solidFill>
          <a:ln/>
        </p:spPr>
      </p:sp>
      <p:sp>
        <p:nvSpPr>
          <p:cNvPr id="9" name="Text 7"/>
          <p:cNvSpPr/>
          <p:nvPr/>
        </p:nvSpPr>
        <p:spPr>
          <a:xfrm>
            <a:off x="5216962" y="3908941"/>
            <a:ext cx="4196358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Implement Model Code of Conduct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216962" y="4753689"/>
            <a:ext cx="4196358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Enforces ethical guidelines for candidates and parties during campaigns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9640133" y="3379589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Alice Light" pitchFamily="34" charset="0"/>
                <a:ea typeface="Alice Light" pitchFamily="34" charset="-122"/>
                <a:cs typeface="Alice Light" pitchFamily="34" charset="-120"/>
              </a:rPr>
              <a:t>03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9640133" y="3734633"/>
            <a:ext cx="4196358" cy="30480"/>
          </a:xfrm>
          <a:prstGeom prst="rect">
            <a:avLst/>
          </a:prstGeom>
          <a:solidFill>
            <a:srgbClr val="1B5F39"/>
          </a:solidFill>
          <a:ln/>
        </p:spPr>
      </p:sp>
      <p:sp>
        <p:nvSpPr>
          <p:cNvPr id="13" name="Text 11"/>
          <p:cNvSpPr/>
          <p:nvPr/>
        </p:nvSpPr>
        <p:spPr>
          <a:xfrm>
            <a:off x="9640133" y="390894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Declare Results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9640133" y="4399359"/>
            <a:ext cx="4196358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Officially announces and certifies election outcomes across all constituencies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205984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Types of Functions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2254925"/>
            <a:ext cx="3664744" cy="2810947"/>
          </a:xfrm>
          <a:prstGeom prst="roundRect">
            <a:avLst>
              <a:gd name="adj" fmla="val 1210"/>
            </a:avLst>
          </a:prstGeom>
          <a:solidFill>
            <a:srgbClr val="FCFBF8"/>
          </a:solidFill>
          <a:ln w="30480">
            <a:solidFill>
              <a:srgbClr val="D6D3CC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051084" y="2512219"/>
            <a:ext cx="3150156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Administrative Functions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051084" y="3356967"/>
            <a:ext cx="3150156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Day-to-day management of election logistics, staff coordination, and operational planning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4685348" y="2254925"/>
            <a:ext cx="3664863" cy="2810947"/>
          </a:xfrm>
          <a:prstGeom prst="roundRect">
            <a:avLst>
              <a:gd name="adj" fmla="val 1210"/>
            </a:avLst>
          </a:prstGeom>
          <a:solidFill>
            <a:srgbClr val="FCFBF8"/>
          </a:solidFill>
          <a:ln w="30480">
            <a:solidFill>
              <a:srgbClr val="D6D3C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942642" y="251221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Advisory Functions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4942642" y="3002637"/>
            <a:ext cx="3150275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Provides guidance to government on electoral matters and constitutional provisions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793790" y="5292685"/>
            <a:ext cx="7556421" cy="1730812"/>
          </a:xfrm>
          <a:prstGeom prst="roundRect">
            <a:avLst>
              <a:gd name="adj" fmla="val 1966"/>
            </a:avLst>
          </a:prstGeom>
          <a:solidFill>
            <a:srgbClr val="FCFBF8"/>
          </a:solidFill>
          <a:ln w="30480">
            <a:solidFill>
              <a:srgbClr val="D6D3C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51084" y="5549979"/>
            <a:ext cx="309336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Quasi-Judicial Functions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1051084" y="6040398"/>
            <a:ext cx="704183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Acts as a judicial authority for election disputes, complaints, and enforcement actions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262068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Why the ECI Matters</a:t>
            </a:r>
            <a:endParaRPr lang="en-US" sz="4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93790" y="3424476"/>
            <a:ext cx="680442" cy="68044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438840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Ensures Fairness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93790" y="4878824"/>
            <a:ext cx="415861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Maintains level playing field for all political parties and candidates through impartial oversight</a:t>
            </a:r>
            <a:endParaRPr lang="en-US" sz="17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5893" y="3424476"/>
            <a:ext cx="680442" cy="68044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235893" y="438840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Controls Malpractices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5235893" y="4878824"/>
            <a:ext cx="415861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Prevents electoral fraud, booth capturing, and corrupt practices through strict monitoring</a:t>
            </a:r>
            <a:endParaRPr lang="en-US" sz="17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677995" y="3424476"/>
            <a:ext cx="680442" cy="68044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677995" y="438840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Maintains Democracy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9677995" y="4878824"/>
            <a:ext cx="415861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Upholds democratic values by ensuring citizens' votes translate into legitimate representation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26106" y="524947"/>
            <a:ext cx="5222558" cy="5514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300"/>
              </a:lnSpc>
              <a:buNone/>
            </a:pPr>
            <a:r>
              <a:rPr lang="en-US" sz="34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Election Process Overview</a:t>
            </a:r>
            <a:endParaRPr lang="en-US" sz="3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26106" y="1351002"/>
            <a:ext cx="882372" cy="105894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245757" y="1527453"/>
            <a:ext cx="2206109" cy="275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Notification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2245757" y="1885593"/>
            <a:ext cx="11158418" cy="250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Election dates announced</a:t>
            </a:r>
            <a:endParaRPr lang="en-US" sz="13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6106" y="2409944"/>
            <a:ext cx="882372" cy="105894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245757" y="2586395"/>
            <a:ext cx="2206109" cy="275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Nomination</a:t>
            </a:r>
            <a:endParaRPr lang="en-US" sz="1700" dirty="0"/>
          </a:p>
        </p:txBody>
      </p:sp>
      <p:sp>
        <p:nvSpPr>
          <p:cNvPr id="8" name="Text 4"/>
          <p:cNvSpPr/>
          <p:nvPr/>
        </p:nvSpPr>
        <p:spPr>
          <a:xfrm>
            <a:off x="2245757" y="2944535"/>
            <a:ext cx="11158418" cy="250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Candidates file papers</a:t>
            </a:r>
            <a:endParaRPr lang="en-US" sz="13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6106" y="3468886"/>
            <a:ext cx="882372" cy="105894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2245757" y="3645337"/>
            <a:ext cx="2206109" cy="275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Campaigning</a:t>
            </a:r>
            <a:endParaRPr lang="en-US" sz="1700" dirty="0"/>
          </a:p>
        </p:txBody>
      </p:sp>
      <p:sp>
        <p:nvSpPr>
          <p:cNvPr id="11" name="Text 6"/>
          <p:cNvSpPr/>
          <p:nvPr/>
        </p:nvSpPr>
        <p:spPr>
          <a:xfrm>
            <a:off x="2245757" y="4003477"/>
            <a:ext cx="11158418" cy="250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Election campaigns conducted</a:t>
            </a:r>
            <a:endParaRPr lang="en-US" sz="13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6106" y="4527828"/>
            <a:ext cx="882372" cy="1058942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2245757" y="4704278"/>
            <a:ext cx="2206109" cy="275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Polling</a:t>
            </a:r>
            <a:endParaRPr lang="en-US" sz="1700" dirty="0"/>
          </a:p>
        </p:txBody>
      </p:sp>
      <p:sp>
        <p:nvSpPr>
          <p:cNvPr id="14" name="Text 8"/>
          <p:cNvSpPr/>
          <p:nvPr/>
        </p:nvSpPr>
        <p:spPr>
          <a:xfrm>
            <a:off x="2245757" y="5062418"/>
            <a:ext cx="11158418" cy="250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Voters cast ballots</a:t>
            </a:r>
            <a:endParaRPr lang="en-US" sz="135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26106" y="5586770"/>
            <a:ext cx="882372" cy="1058942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2245757" y="5763220"/>
            <a:ext cx="2206109" cy="275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Counting</a:t>
            </a:r>
            <a:endParaRPr lang="en-US" sz="1700" dirty="0"/>
          </a:p>
        </p:txBody>
      </p:sp>
      <p:sp>
        <p:nvSpPr>
          <p:cNvPr id="17" name="Text 10"/>
          <p:cNvSpPr/>
          <p:nvPr/>
        </p:nvSpPr>
        <p:spPr>
          <a:xfrm>
            <a:off x="2245757" y="6121360"/>
            <a:ext cx="11158418" cy="250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Votes counted</a:t>
            </a:r>
            <a:endParaRPr lang="en-US" sz="1350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26106" y="6645712"/>
            <a:ext cx="882372" cy="1058942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2245757" y="6822162"/>
            <a:ext cx="2206109" cy="275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Results</a:t>
            </a:r>
            <a:endParaRPr lang="en-US" sz="1700" dirty="0"/>
          </a:p>
        </p:txBody>
      </p:sp>
      <p:sp>
        <p:nvSpPr>
          <p:cNvPr id="20" name="Text 12"/>
          <p:cNvSpPr/>
          <p:nvPr/>
        </p:nvSpPr>
        <p:spPr>
          <a:xfrm>
            <a:off x="2245757" y="7180302"/>
            <a:ext cx="11158418" cy="250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Winners declared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436376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Guardians of Indian Democracy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620351" y="4449247"/>
            <a:ext cx="721625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The Election Commission of India stands as the cornerstone of the world's largest democracy, ensuring that every citizen's voice is heard and every vote counts towards shaping the nation's future.</a:t>
            </a:r>
            <a:endParaRPr lang="en-US" sz="1750" dirty="0"/>
          </a:p>
        </p:txBody>
      </p:sp>
      <p:sp>
        <p:nvSpPr>
          <p:cNvPr id="5" name="Shape 2"/>
          <p:cNvSpPr/>
          <p:nvPr/>
        </p:nvSpPr>
        <p:spPr>
          <a:xfrm>
            <a:off x="6280190" y="4194096"/>
            <a:ext cx="30480" cy="1599009"/>
          </a:xfrm>
          <a:prstGeom prst="rect">
            <a:avLst/>
          </a:prstGeom>
          <a:solidFill>
            <a:srgbClr val="1B5F39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2026-03-30T19:03:39Z</dcterms:created>
  <dcterms:modified xsi:type="dcterms:W3CDTF">2026-03-30T19:03:39Z</dcterms:modified>
</cp:coreProperties>
</file>