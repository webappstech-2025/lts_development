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Alice"/>
      <p:regular r:id="rId17"/>
    </p:embeddedFont>
    <p:embeddedFont>
      <p:font typeface="Alice"/>
      <p:regular r:id="rId18"/>
    </p:embeddedFont>
    <p:embeddedFont>
      <p:font typeface="Lora"/>
      <p:regular r:id="rId19"/>
    </p:embeddedFont>
    <p:embeddedFont>
      <p:font typeface="Lora"/>
      <p:regular r:id="rId20"/>
    </p:embeddedFont>
    <p:embeddedFont>
      <p:font typeface="Lora"/>
      <p:regular r:id="rId21"/>
    </p:embeddedFont>
    <p:embeddedFont>
      <p:font typeface="Lora"/>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image" Target="../media/image-8-8.png"/><Relationship Id="rId9" Type="http://schemas.openxmlformats.org/officeDocument/2006/relationships/image" Target="../media/image-8-9.svg"/><Relationship Id="rId10" Type="http://schemas.openxmlformats.org/officeDocument/2006/relationships/slideLayout" Target="../slideLayouts/slideLayout9.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518648"/>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Electoral Reforms: Strengthening India's Democracy</a:t>
            </a:r>
            <a:endParaRPr lang="en-US" sz="4450" dirty="0"/>
          </a:p>
        </p:txBody>
      </p:sp>
      <p:sp>
        <p:nvSpPr>
          <p:cNvPr id="4" name="Text 1"/>
          <p:cNvSpPr/>
          <p:nvPr/>
        </p:nvSpPr>
        <p:spPr>
          <a:xfrm>
            <a:off x="6280190" y="4985147"/>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Building trust, transparency, and fairness in the world's largest democracy</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25354"/>
            <a:ext cx="8927663"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Why Electoral Reforms Matter Now</a:t>
            </a:r>
            <a:endParaRPr lang="en-US" sz="4450" dirty="0"/>
          </a:p>
        </p:txBody>
      </p:sp>
      <p:sp>
        <p:nvSpPr>
          <p:cNvPr id="3" name="Text 1"/>
          <p:cNvSpPr/>
          <p:nvPr/>
        </p:nvSpPr>
        <p:spPr>
          <a:xfrm>
            <a:off x="793790" y="2178368"/>
            <a:ext cx="4205168" cy="3266123"/>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India's democratic fabric faces unprecedented challenges. From shadowy campaign financing to criminal elements infiltrating politics, the integrity of our electoral process is under threat. Without urgent reforms, the very foundation of representative democracy—citizen choice—risks erosion.</a:t>
            </a:r>
            <a:endParaRPr lang="en-US" sz="1750" dirty="0"/>
          </a:p>
        </p:txBody>
      </p:sp>
      <p:sp>
        <p:nvSpPr>
          <p:cNvPr id="4" name="Text 2"/>
          <p:cNvSpPr/>
          <p:nvPr/>
        </p:nvSpPr>
        <p:spPr>
          <a:xfrm>
            <a:off x="793790" y="5648563"/>
            <a:ext cx="4205168" cy="1451610"/>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These reforms aren't merely technical adjustments; they're essential safeguards ensuring every vote counts and every voice matters.</a:t>
            </a:r>
            <a:endParaRPr lang="en-US" sz="1750" dirty="0"/>
          </a:p>
        </p:txBody>
      </p:sp>
      <p:pic>
        <p:nvPicPr>
          <p:cNvPr id="5" name="Image 0" descr="preencoded.png">    </p:cNvPr>
          <p:cNvPicPr>
            <a:picLocks noChangeAspect="1"/>
          </p:cNvPicPr>
          <p:nvPr/>
        </p:nvPicPr>
        <p:blipFill>
          <a:blip r:embed="rId1"/>
          <a:stretch>
            <a:fillRect/>
          </a:stretch>
        </p:blipFill>
        <p:spPr>
          <a:xfrm>
            <a:off x="5559981" y="2327434"/>
            <a:ext cx="8284131" cy="46236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66882" y="645319"/>
            <a:ext cx="5827514" cy="684728"/>
          </a:xfrm>
          <a:prstGeom prst="rect">
            <a:avLst/>
          </a:prstGeom>
          <a:noFill/>
          <a:ln/>
        </p:spPr>
        <p:txBody>
          <a:bodyPr wrap="none" lIns="0" tIns="0" rIns="0" bIns="0" rtlCol="0" anchor="t"/>
          <a:lstStyle/>
          <a:p>
            <a:pPr algn="l" indent="0" marL="0">
              <a:lnSpc>
                <a:spcPts val="5350"/>
              </a:lnSpc>
              <a:buNone/>
            </a:pPr>
            <a:r>
              <a:rPr lang="en-US" sz="4300" dirty="0">
                <a:solidFill>
                  <a:srgbClr val="233E32"/>
                </a:solidFill>
                <a:latin typeface="Alice" pitchFamily="34" charset="0"/>
                <a:ea typeface="Alice" pitchFamily="34" charset="-122"/>
                <a:cs typeface="Alice" pitchFamily="34" charset="-120"/>
              </a:rPr>
              <a:t>Four Critical Challenges</a:t>
            </a:r>
            <a:endParaRPr lang="en-US" sz="4300" dirty="0"/>
          </a:p>
        </p:txBody>
      </p:sp>
      <p:sp>
        <p:nvSpPr>
          <p:cNvPr id="3" name="Shape 1"/>
          <p:cNvSpPr/>
          <p:nvPr/>
        </p:nvSpPr>
        <p:spPr>
          <a:xfrm>
            <a:off x="766882" y="1753314"/>
            <a:ext cx="6442472" cy="2809637"/>
          </a:xfrm>
          <a:prstGeom prst="roundRect">
            <a:avLst>
              <a:gd name="adj" fmla="val 1170"/>
            </a:avLst>
          </a:prstGeom>
          <a:solidFill>
            <a:srgbClr val="F0EDE6"/>
          </a:solidFill>
          <a:ln/>
        </p:spPr>
      </p:sp>
      <p:sp>
        <p:nvSpPr>
          <p:cNvPr id="4" name="Shape 2"/>
          <p:cNvSpPr/>
          <p:nvPr/>
        </p:nvSpPr>
        <p:spPr>
          <a:xfrm>
            <a:off x="985957" y="1972389"/>
            <a:ext cx="657344" cy="657344"/>
          </a:xfrm>
          <a:prstGeom prst="roundRect">
            <a:avLst>
              <a:gd name="adj" fmla="val 13909134"/>
            </a:avLst>
          </a:prstGeom>
          <a:solidFill>
            <a:srgbClr val="1B5F39"/>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66693" y="2153126"/>
            <a:ext cx="295751" cy="295751"/>
          </a:xfrm>
          <a:prstGeom prst="rect">
            <a:avLst/>
          </a:prstGeom>
        </p:spPr>
      </p:pic>
      <p:sp>
        <p:nvSpPr>
          <p:cNvPr id="6" name="Text 3"/>
          <p:cNvSpPr/>
          <p:nvPr/>
        </p:nvSpPr>
        <p:spPr>
          <a:xfrm>
            <a:off x="985957" y="2841308"/>
            <a:ext cx="3396496" cy="342305"/>
          </a:xfrm>
          <a:prstGeom prst="rect">
            <a:avLst/>
          </a:prstGeom>
          <a:noFill/>
          <a:ln/>
        </p:spPr>
        <p:txBody>
          <a:bodyPr wrap="none" lIns="0" tIns="0" rIns="0" bIns="0" rtlCol="0" anchor="t"/>
          <a:lstStyle/>
          <a:p>
            <a:pPr algn="l" indent="0" marL="0">
              <a:lnSpc>
                <a:spcPts val="2650"/>
              </a:lnSpc>
              <a:buNone/>
            </a:pPr>
            <a:r>
              <a:rPr lang="en-US" sz="2150" dirty="0">
                <a:solidFill>
                  <a:srgbClr val="2C2821"/>
                </a:solidFill>
                <a:latin typeface="Alice" pitchFamily="34" charset="0"/>
                <a:ea typeface="Alice" pitchFamily="34" charset="-122"/>
                <a:cs typeface="Alice" pitchFamily="34" charset="-120"/>
              </a:rPr>
              <a:t>Corruption &amp; Money Power</a:t>
            </a:r>
            <a:endParaRPr lang="en-US" sz="2150" dirty="0"/>
          </a:p>
        </p:txBody>
      </p:sp>
      <p:sp>
        <p:nvSpPr>
          <p:cNvPr id="7" name="Text 4"/>
          <p:cNvSpPr/>
          <p:nvPr/>
        </p:nvSpPr>
        <p:spPr>
          <a:xfrm>
            <a:off x="985957" y="3310533"/>
            <a:ext cx="6004322" cy="1033343"/>
          </a:xfrm>
          <a:prstGeom prst="rect">
            <a:avLst/>
          </a:prstGeom>
          <a:noFill/>
          <a:ln/>
        </p:spPr>
        <p:txBody>
          <a:bodyPr wrap="square" lIns="0" tIns="0" rIns="0" bIns="0" rtlCol="0" anchor="t"/>
          <a:lstStyle/>
          <a:p>
            <a:pPr algn="l" indent="0" marL="0">
              <a:lnSpc>
                <a:spcPts val="2700"/>
              </a:lnSpc>
              <a:buNone/>
            </a:pPr>
            <a:r>
              <a:rPr lang="en-US" sz="1700" dirty="0">
                <a:solidFill>
                  <a:srgbClr val="2C2821"/>
                </a:solidFill>
                <a:latin typeface="Lora" pitchFamily="34" charset="0"/>
                <a:ea typeface="Lora" pitchFamily="34" charset="-122"/>
                <a:cs typeface="Lora" pitchFamily="34" charset="-120"/>
              </a:rPr>
              <a:t>Illicit funds flood campaigns, enabling wealthy candidates to outspend ethical opponents and skew electoral outcomes</a:t>
            </a:r>
            <a:endParaRPr lang="en-US" sz="1700" dirty="0"/>
          </a:p>
        </p:txBody>
      </p:sp>
      <p:sp>
        <p:nvSpPr>
          <p:cNvPr id="8" name="Shape 5"/>
          <p:cNvSpPr/>
          <p:nvPr/>
        </p:nvSpPr>
        <p:spPr>
          <a:xfrm>
            <a:off x="7420928" y="1753314"/>
            <a:ext cx="6442591" cy="2809637"/>
          </a:xfrm>
          <a:prstGeom prst="roundRect">
            <a:avLst>
              <a:gd name="adj" fmla="val 1170"/>
            </a:avLst>
          </a:prstGeom>
          <a:solidFill>
            <a:srgbClr val="F0EDE6"/>
          </a:solidFill>
          <a:ln/>
        </p:spPr>
      </p:sp>
      <p:sp>
        <p:nvSpPr>
          <p:cNvPr id="9" name="Shape 6"/>
          <p:cNvSpPr/>
          <p:nvPr/>
        </p:nvSpPr>
        <p:spPr>
          <a:xfrm>
            <a:off x="7640003" y="1972389"/>
            <a:ext cx="657344" cy="657344"/>
          </a:xfrm>
          <a:prstGeom prst="roundRect">
            <a:avLst>
              <a:gd name="adj" fmla="val 13909134"/>
            </a:avLst>
          </a:prstGeom>
          <a:solidFill>
            <a:srgbClr val="1B5F39"/>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20739" y="2153126"/>
            <a:ext cx="295751" cy="295751"/>
          </a:xfrm>
          <a:prstGeom prst="rect">
            <a:avLst/>
          </a:prstGeom>
        </p:spPr>
      </p:pic>
      <p:sp>
        <p:nvSpPr>
          <p:cNvPr id="11" name="Text 7"/>
          <p:cNvSpPr/>
          <p:nvPr/>
        </p:nvSpPr>
        <p:spPr>
          <a:xfrm>
            <a:off x="7640003" y="2841308"/>
            <a:ext cx="2738914" cy="342305"/>
          </a:xfrm>
          <a:prstGeom prst="rect">
            <a:avLst/>
          </a:prstGeom>
          <a:noFill/>
          <a:ln/>
        </p:spPr>
        <p:txBody>
          <a:bodyPr wrap="none" lIns="0" tIns="0" rIns="0" bIns="0" rtlCol="0" anchor="t"/>
          <a:lstStyle/>
          <a:p>
            <a:pPr algn="l" indent="0" marL="0">
              <a:lnSpc>
                <a:spcPts val="2650"/>
              </a:lnSpc>
              <a:buNone/>
            </a:pPr>
            <a:r>
              <a:rPr lang="en-US" sz="2150" dirty="0">
                <a:solidFill>
                  <a:srgbClr val="2C2821"/>
                </a:solidFill>
                <a:latin typeface="Alice" pitchFamily="34" charset="0"/>
                <a:ea typeface="Alice" pitchFamily="34" charset="-122"/>
                <a:cs typeface="Alice" pitchFamily="34" charset="-120"/>
              </a:rPr>
              <a:t>Criminal Candidates</a:t>
            </a:r>
            <a:endParaRPr lang="en-US" sz="2150" dirty="0"/>
          </a:p>
        </p:txBody>
      </p:sp>
      <p:sp>
        <p:nvSpPr>
          <p:cNvPr id="12" name="Text 8"/>
          <p:cNvSpPr/>
          <p:nvPr/>
        </p:nvSpPr>
        <p:spPr>
          <a:xfrm>
            <a:off x="7640003" y="3310533"/>
            <a:ext cx="6004441" cy="688896"/>
          </a:xfrm>
          <a:prstGeom prst="rect">
            <a:avLst/>
          </a:prstGeom>
          <a:noFill/>
          <a:ln/>
        </p:spPr>
        <p:txBody>
          <a:bodyPr wrap="square" lIns="0" tIns="0" rIns="0" bIns="0" rtlCol="0" anchor="t"/>
          <a:lstStyle/>
          <a:p>
            <a:pPr algn="l" indent="0" marL="0">
              <a:lnSpc>
                <a:spcPts val="2700"/>
              </a:lnSpc>
              <a:buNone/>
            </a:pPr>
            <a:r>
              <a:rPr lang="en-US" sz="1700" dirty="0">
                <a:solidFill>
                  <a:srgbClr val="2C2821"/>
                </a:solidFill>
                <a:latin typeface="Lora" pitchFamily="34" charset="0"/>
                <a:ea typeface="Lora" pitchFamily="34" charset="-122"/>
                <a:cs typeface="Lora" pitchFamily="34" charset="-120"/>
              </a:rPr>
              <a:t>Politicians with serious charges exploit loopholes, undermining public trust in governance and rule of law</a:t>
            </a:r>
            <a:endParaRPr lang="en-US" sz="1700" dirty="0"/>
          </a:p>
        </p:txBody>
      </p:sp>
      <p:sp>
        <p:nvSpPr>
          <p:cNvPr id="13" name="Shape 9"/>
          <p:cNvSpPr/>
          <p:nvPr/>
        </p:nvSpPr>
        <p:spPr>
          <a:xfrm>
            <a:off x="766882" y="4774525"/>
            <a:ext cx="6442472" cy="2809637"/>
          </a:xfrm>
          <a:prstGeom prst="roundRect">
            <a:avLst>
              <a:gd name="adj" fmla="val 1170"/>
            </a:avLst>
          </a:prstGeom>
          <a:solidFill>
            <a:srgbClr val="F0EDE6"/>
          </a:solidFill>
          <a:ln/>
        </p:spPr>
      </p:sp>
      <p:sp>
        <p:nvSpPr>
          <p:cNvPr id="14" name="Shape 10"/>
          <p:cNvSpPr/>
          <p:nvPr/>
        </p:nvSpPr>
        <p:spPr>
          <a:xfrm>
            <a:off x="985957" y="4993600"/>
            <a:ext cx="657344" cy="657344"/>
          </a:xfrm>
          <a:prstGeom prst="roundRect">
            <a:avLst>
              <a:gd name="adj" fmla="val 13909134"/>
            </a:avLst>
          </a:prstGeom>
          <a:solidFill>
            <a:srgbClr val="1B5F39"/>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6693" y="5174337"/>
            <a:ext cx="295751" cy="295751"/>
          </a:xfrm>
          <a:prstGeom prst="rect">
            <a:avLst/>
          </a:prstGeom>
        </p:spPr>
      </p:pic>
      <p:sp>
        <p:nvSpPr>
          <p:cNvPr id="16" name="Text 11"/>
          <p:cNvSpPr/>
          <p:nvPr/>
        </p:nvSpPr>
        <p:spPr>
          <a:xfrm>
            <a:off x="985957" y="5862518"/>
            <a:ext cx="2738914" cy="342305"/>
          </a:xfrm>
          <a:prstGeom prst="rect">
            <a:avLst/>
          </a:prstGeom>
          <a:noFill/>
          <a:ln/>
        </p:spPr>
        <p:txBody>
          <a:bodyPr wrap="none" lIns="0" tIns="0" rIns="0" bIns="0" rtlCol="0" anchor="t"/>
          <a:lstStyle/>
          <a:p>
            <a:pPr algn="l" indent="0" marL="0">
              <a:lnSpc>
                <a:spcPts val="2650"/>
              </a:lnSpc>
              <a:buNone/>
            </a:pPr>
            <a:r>
              <a:rPr lang="en-US" sz="2150" dirty="0">
                <a:solidFill>
                  <a:srgbClr val="2C2821"/>
                </a:solidFill>
                <a:latin typeface="Alice" pitchFamily="34" charset="0"/>
                <a:ea typeface="Alice" pitchFamily="34" charset="-122"/>
                <a:cs typeface="Alice" pitchFamily="34" charset="-120"/>
              </a:rPr>
              <a:t>Vote Buying</a:t>
            </a:r>
            <a:endParaRPr lang="en-US" sz="2150" dirty="0"/>
          </a:p>
        </p:txBody>
      </p:sp>
      <p:sp>
        <p:nvSpPr>
          <p:cNvPr id="17" name="Text 12"/>
          <p:cNvSpPr/>
          <p:nvPr/>
        </p:nvSpPr>
        <p:spPr>
          <a:xfrm>
            <a:off x="985957" y="6331744"/>
            <a:ext cx="6004322" cy="1033343"/>
          </a:xfrm>
          <a:prstGeom prst="rect">
            <a:avLst/>
          </a:prstGeom>
          <a:noFill/>
          <a:ln/>
        </p:spPr>
        <p:txBody>
          <a:bodyPr wrap="square" lIns="0" tIns="0" rIns="0" bIns="0" rtlCol="0" anchor="t"/>
          <a:lstStyle/>
          <a:p>
            <a:pPr algn="l" indent="0" marL="0">
              <a:lnSpc>
                <a:spcPts val="2700"/>
              </a:lnSpc>
              <a:buNone/>
            </a:pPr>
            <a:r>
              <a:rPr lang="en-US" sz="1700" dirty="0">
                <a:solidFill>
                  <a:srgbClr val="2C2821"/>
                </a:solidFill>
                <a:latin typeface="Lora" pitchFamily="34" charset="0"/>
                <a:ea typeface="Lora" pitchFamily="34" charset="-122"/>
                <a:cs typeface="Lora" pitchFamily="34" charset="-120"/>
              </a:rPr>
              <a:t>Systematic distribution of cash and gifts manipulates voter decisions, particularly affecting economically vulnerable communities</a:t>
            </a:r>
            <a:endParaRPr lang="en-US" sz="1700" dirty="0"/>
          </a:p>
        </p:txBody>
      </p:sp>
      <p:sp>
        <p:nvSpPr>
          <p:cNvPr id="18" name="Shape 13"/>
          <p:cNvSpPr/>
          <p:nvPr/>
        </p:nvSpPr>
        <p:spPr>
          <a:xfrm>
            <a:off x="7420928" y="4774525"/>
            <a:ext cx="6442591" cy="2809637"/>
          </a:xfrm>
          <a:prstGeom prst="roundRect">
            <a:avLst>
              <a:gd name="adj" fmla="val 1170"/>
            </a:avLst>
          </a:prstGeom>
          <a:solidFill>
            <a:srgbClr val="F0EDE6"/>
          </a:solidFill>
          <a:ln/>
        </p:spPr>
      </p:sp>
      <p:sp>
        <p:nvSpPr>
          <p:cNvPr id="19" name="Shape 14"/>
          <p:cNvSpPr/>
          <p:nvPr/>
        </p:nvSpPr>
        <p:spPr>
          <a:xfrm>
            <a:off x="7640003" y="4993600"/>
            <a:ext cx="657344" cy="657344"/>
          </a:xfrm>
          <a:prstGeom prst="roundRect">
            <a:avLst>
              <a:gd name="adj" fmla="val 13909134"/>
            </a:avLst>
          </a:prstGeom>
          <a:solidFill>
            <a:srgbClr val="1B5F39"/>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20739" y="5174337"/>
            <a:ext cx="295751" cy="295751"/>
          </a:xfrm>
          <a:prstGeom prst="rect">
            <a:avLst/>
          </a:prstGeom>
        </p:spPr>
      </p:pic>
      <p:sp>
        <p:nvSpPr>
          <p:cNvPr id="21" name="Text 15"/>
          <p:cNvSpPr/>
          <p:nvPr/>
        </p:nvSpPr>
        <p:spPr>
          <a:xfrm>
            <a:off x="7640003" y="5862518"/>
            <a:ext cx="2738914" cy="342305"/>
          </a:xfrm>
          <a:prstGeom prst="rect">
            <a:avLst/>
          </a:prstGeom>
          <a:noFill/>
          <a:ln/>
        </p:spPr>
        <p:txBody>
          <a:bodyPr wrap="none" lIns="0" tIns="0" rIns="0" bIns="0" rtlCol="0" anchor="t"/>
          <a:lstStyle/>
          <a:p>
            <a:pPr algn="l" indent="0" marL="0">
              <a:lnSpc>
                <a:spcPts val="2650"/>
              </a:lnSpc>
              <a:buNone/>
            </a:pPr>
            <a:r>
              <a:rPr lang="en-US" sz="2150" dirty="0">
                <a:solidFill>
                  <a:srgbClr val="2C2821"/>
                </a:solidFill>
                <a:latin typeface="Alice" pitchFamily="34" charset="0"/>
                <a:ea typeface="Alice" pitchFamily="34" charset="-122"/>
                <a:cs typeface="Alice" pitchFamily="34" charset="-120"/>
              </a:rPr>
              <a:t>Lack of Transparency</a:t>
            </a:r>
            <a:endParaRPr lang="en-US" sz="2150" dirty="0"/>
          </a:p>
        </p:txBody>
      </p:sp>
      <p:sp>
        <p:nvSpPr>
          <p:cNvPr id="22" name="Text 16"/>
          <p:cNvSpPr/>
          <p:nvPr/>
        </p:nvSpPr>
        <p:spPr>
          <a:xfrm>
            <a:off x="7640003" y="6331744"/>
            <a:ext cx="6004441" cy="688896"/>
          </a:xfrm>
          <a:prstGeom prst="rect">
            <a:avLst/>
          </a:prstGeom>
          <a:noFill/>
          <a:ln/>
        </p:spPr>
        <p:txBody>
          <a:bodyPr wrap="square" lIns="0" tIns="0" rIns="0" bIns="0" rtlCol="0" anchor="t"/>
          <a:lstStyle/>
          <a:p>
            <a:pPr algn="l" indent="0" marL="0">
              <a:lnSpc>
                <a:spcPts val="2700"/>
              </a:lnSpc>
              <a:buNone/>
            </a:pPr>
            <a:r>
              <a:rPr lang="en-US" sz="1700" dirty="0">
                <a:solidFill>
                  <a:srgbClr val="2C2821"/>
                </a:solidFill>
                <a:latin typeface="Lora" pitchFamily="34" charset="0"/>
                <a:ea typeface="Lora" pitchFamily="34" charset="-122"/>
                <a:cs typeface="Lora" pitchFamily="34" charset="-120"/>
              </a:rPr>
              <a:t>Opaque party financing and expenditure reporting obscure funding sources and actual campaign costs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00524" y="747951"/>
            <a:ext cx="4386977" cy="548402"/>
          </a:xfrm>
          <a:prstGeom prst="rect">
            <a:avLst/>
          </a:prstGeom>
          <a:noFill/>
          <a:ln/>
        </p:spPr>
        <p:txBody>
          <a:bodyPr wrap="none" lIns="0" tIns="0" rIns="0" bIns="0" rtlCol="0" anchor="t"/>
          <a:lstStyle/>
          <a:p>
            <a:pPr algn="l" indent="0" marL="0">
              <a:lnSpc>
                <a:spcPts val="4300"/>
              </a:lnSpc>
              <a:buNone/>
            </a:pPr>
            <a:r>
              <a:rPr lang="en-US" sz="3450" dirty="0">
                <a:solidFill>
                  <a:srgbClr val="233E32"/>
                </a:solidFill>
                <a:latin typeface="Alice" pitchFamily="34" charset="0"/>
                <a:ea typeface="Alice" pitchFamily="34" charset="-122"/>
                <a:cs typeface="Alice" pitchFamily="34" charset="-120"/>
              </a:rPr>
              <a:t>Key Reform Proposals</a:t>
            </a:r>
            <a:endParaRPr lang="en-US" sz="3450" dirty="0"/>
          </a:p>
        </p:txBody>
      </p:sp>
      <p:sp>
        <p:nvSpPr>
          <p:cNvPr id="4" name="Text 1"/>
          <p:cNvSpPr/>
          <p:nvPr/>
        </p:nvSpPr>
        <p:spPr>
          <a:xfrm>
            <a:off x="6100524" y="1499949"/>
            <a:ext cx="175379" cy="219313"/>
          </a:xfrm>
          <a:prstGeom prst="rect">
            <a:avLst/>
          </a:prstGeom>
          <a:noFill/>
          <a:ln/>
        </p:spPr>
        <p:txBody>
          <a:bodyPr wrap="none" lIns="0" tIns="0" rIns="0" bIns="0" rtlCol="0" anchor="t"/>
          <a:lstStyle/>
          <a:p>
            <a:pPr algn="l" indent="0" marL="0">
              <a:lnSpc>
                <a:spcPts val="1950"/>
              </a:lnSpc>
              <a:buNone/>
            </a:pPr>
            <a:r>
              <a:rPr lang="en-US" sz="1350" dirty="0">
                <a:solidFill>
                  <a:srgbClr val="2C2821"/>
                </a:solidFill>
                <a:latin typeface="Alice Light" pitchFamily="34" charset="0"/>
                <a:ea typeface="Alice Light" pitchFamily="34" charset="-122"/>
                <a:cs typeface="Alice Light" pitchFamily="34" charset="-120"/>
              </a:rPr>
              <a:t>01</a:t>
            </a:r>
            <a:endParaRPr lang="en-US" sz="1350" dirty="0"/>
          </a:p>
        </p:txBody>
      </p:sp>
      <p:sp>
        <p:nvSpPr>
          <p:cNvPr id="5" name="Shape 2"/>
          <p:cNvSpPr/>
          <p:nvPr/>
        </p:nvSpPr>
        <p:spPr>
          <a:xfrm>
            <a:off x="6100524" y="1775222"/>
            <a:ext cx="7915751" cy="22860"/>
          </a:xfrm>
          <a:prstGeom prst="rect">
            <a:avLst/>
          </a:prstGeom>
          <a:solidFill>
            <a:srgbClr val="1B5F39"/>
          </a:solidFill>
          <a:ln/>
        </p:spPr>
      </p:sp>
      <p:sp>
        <p:nvSpPr>
          <p:cNvPr id="6" name="Text 3"/>
          <p:cNvSpPr/>
          <p:nvPr/>
        </p:nvSpPr>
        <p:spPr>
          <a:xfrm>
            <a:off x="6100524" y="1908572"/>
            <a:ext cx="3299103" cy="274082"/>
          </a:xfrm>
          <a:prstGeom prst="rect">
            <a:avLst/>
          </a:prstGeom>
          <a:noFill/>
          <a:ln/>
        </p:spPr>
        <p:txBody>
          <a:bodyPr wrap="none" lIns="0" tIns="0" rIns="0" bIns="0" rtlCol="0" anchor="t"/>
          <a:lstStyle/>
          <a:p>
            <a:pPr algn="l" indent="0" marL="0">
              <a:lnSpc>
                <a:spcPts val="2150"/>
              </a:lnSpc>
              <a:buNone/>
            </a:pPr>
            <a:r>
              <a:rPr lang="en-US" sz="1700" dirty="0">
                <a:solidFill>
                  <a:srgbClr val="2C2821"/>
                </a:solidFill>
                <a:latin typeface="Alice" pitchFamily="34" charset="0"/>
                <a:ea typeface="Alice" pitchFamily="34" charset="-122"/>
                <a:cs typeface="Alice" pitchFamily="34" charset="-120"/>
              </a:rPr>
              <a:t>Transparency in Political Funding</a:t>
            </a:r>
            <a:endParaRPr lang="en-US" sz="1700" dirty="0"/>
          </a:p>
        </p:txBody>
      </p:sp>
      <p:sp>
        <p:nvSpPr>
          <p:cNvPr id="7" name="Text 4"/>
          <p:cNvSpPr/>
          <p:nvPr/>
        </p:nvSpPr>
        <p:spPr>
          <a:xfrm>
            <a:off x="6100524" y="2264093"/>
            <a:ext cx="7915751" cy="497919"/>
          </a:xfrm>
          <a:prstGeom prst="rect">
            <a:avLst/>
          </a:prstGeom>
          <a:noFill/>
          <a:ln/>
        </p:spPr>
        <p:txBody>
          <a:bodyPr wrap="square" lIns="0" tIns="0" rIns="0" bIns="0" rtlCol="0" anchor="t"/>
          <a:lstStyle/>
          <a:p>
            <a:pPr algn="l" indent="0" marL="0">
              <a:lnSpc>
                <a:spcPts val="1950"/>
              </a:lnSpc>
              <a:buNone/>
            </a:pPr>
            <a:r>
              <a:rPr lang="en-US" sz="1350" dirty="0">
                <a:solidFill>
                  <a:srgbClr val="2C2821"/>
                </a:solidFill>
                <a:latin typeface="Lora" pitchFamily="34" charset="0"/>
                <a:ea typeface="Lora" pitchFamily="34" charset="-122"/>
                <a:cs typeface="Lora" pitchFamily="34" charset="-120"/>
              </a:rPr>
              <a:t>Mandatory disclosure of donors above threshold, stringent audit requirements, and public access to party finances</a:t>
            </a:r>
            <a:endParaRPr lang="en-US" sz="1350" dirty="0"/>
          </a:p>
        </p:txBody>
      </p:sp>
      <p:sp>
        <p:nvSpPr>
          <p:cNvPr id="8" name="Text 5"/>
          <p:cNvSpPr/>
          <p:nvPr/>
        </p:nvSpPr>
        <p:spPr>
          <a:xfrm>
            <a:off x="6100524" y="3029307"/>
            <a:ext cx="175379" cy="219313"/>
          </a:xfrm>
          <a:prstGeom prst="rect">
            <a:avLst/>
          </a:prstGeom>
          <a:noFill/>
          <a:ln/>
        </p:spPr>
        <p:txBody>
          <a:bodyPr wrap="none" lIns="0" tIns="0" rIns="0" bIns="0" rtlCol="0" anchor="t"/>
          <a:lstStyle/>
          <a:p>
            <a:pPr algn="l" indent="0" marL="0">
              <a:lnSpc>
                <a:spcPts val="1950"/>
              </a:lnSpc>
              <a:buNone/>
            </a:pPr>
            <a:r>
              <a:rPr lang="en-US" sz="1350" dirty="0">
                <a:solidFill>
                  <a:srgbClr val="2C2821"/>
                </a:solidFill>
                <a:latin typeface="Alice Light" pitchFamily="34" charset="0"/>
                <a:ea typeface="Alice Light" pitchFamily="34" charset="-122"/>
                <a:cs typeface="Alice Light" pitchFamily="34" charset="-120"/>
              </a:rPr>
              <a:t>02</a:t>
            </a:r>
            <a:endParaRPr lang="en-US" sz="1350" dirty="0"/>
          </a:p>
        </p:txBody>
      </p:sp>
      <p:sp>
        <p:nvSpPr>
          <p:cNvPr id="9" name="Shape 6"/>
          <p:cNvSpPr/>
          <p:nvPr/>
        </p:nvSpPr>
        <p:spPr>
          <a:xfrm>
            <a:off x="6100524" y="3304580"/>
            <a:ext cx="7915751" cy="22860"/>
          </a:xfrm>
          <a:prstGeom prst="rect">
            <a:avLst/>
          </a:prstGeom>
          <a:solidFill>
            <a:srgbClr val="1B5F39"/>
          </a:solidFill>
          <a:ln/>
        </p:spPr>
      </p:sp>
      <p:sp>
        <p:nvSpPr>
          <p:cNvPr id="10" name="Text 7"/>
          <p:cNvSpPr/>
          <p:nvPr/>
        </p:nvSpPr>
        <p:spPr>
          <a:xfrm>
            <a:off x="6100524" y="3437930"/>
            <a:ext cx="3303984" cy="274082"/>
          </a:xfrm>
          <a:prstGeom prst="rect">
            <a:avLst/>
          </a:prstGeom>
          <a:noFill/>
          <a:ln/>
        </p:spPr>
        <p:txBody>
          <a:bodyPr wrap="none" lIns="0" tIns="0" rIns="0" bIns="0" rtlCol="0" anchor="t"/>
          <a:lstStyle/>
          <a:p>
            <a:pPr algn="l" indent="0" marL="0">
              <a:lnSpc>
                <a:spcPts val="2150"/>
              </a:lnSpc>
              <a:buNone/>
            </a:pPr>
            <a:r>
              <a:rPr lang="en-US" sz="1700" dirty="0">
                <a:solidFill>
                  <a:srgbClr val="2C2821"/>
                </a:solidFill>
                <a:latin typeface="Alice" pitchFamily="34" charset="0"/>
                <a:ea typeface="Alice" pitchFamily="34" charset="-122"/>
                <a:cs typeface="Alice" pitchFamily="34" charset="-120"/>
              </a:rPr>
              <a:t>Strict Laws for Criminal Elements</a:t>
            </a:r>
            <a:endParaRPr lang="en-US" sz="1700" dirty="0"/>
          </a:p>
        </p:txBody>
      </p:sp>
      <p:sp>
        <p:nvSpPr>
          <p:cNvPr id="11" name="Text 8"/>
          <p:cNvSpPr/>
          <p:nvPr/>
        </p:nvSpPr>
        <p:spPr>
          <a:xfrm>
            <a:off x="6100524" y="3793450"/>
            <a:ext cx="7915751" cy="497919"/>
          </a:xfrm>
          <a:prstGeom prst="rect">
            <a:avLst/>
          </a:prstGeom>
          <a:noFill/>
          <a:ln/>
        </p:spPr>
        <p:txBody>
          <a:bodyPr wrap="square" lIns="0" tIns="0" rIns="0" bIns="0" rtlCol="0" anchor="t"/>
          <a:lstStyle/>
          <a:p>
            <a:pPr algn="l" indent="0" marL="0">
              <a:lnSpc>
                <a:spcPts val="1950"/>
              </a:lnSpc>
              <a:buNone/>
            </a:pPr>
            <a:r>
              <a:rPr lang="en-US" sz="1350" dirty="0">
                <a:solidFill>
                  <a:srgbClr val="2C2821"/>
                </a:solidFill>
                <a:latin typeface="Lora" pitchFamily="34" charset="0"/>
                <a:ea typeface="Lora" pitchFamily="34" charset="-122"/>
                <a:cs typeface="Lora" pitchFamily="34" charset="-120"/>
              </a:rPr>
              <a:t>Immediate disqualification upon charges framed, expedited trials for sitting MPs/MLAs, and barred candidacy for serious offences</a:t>
            </a:r>
            <a:endParaRPr lang="en-US" sz="1350" dirty="0"/>
          </a:p>
        </p:txBody>
      </p:sp>
      <p:sp>
        <p:nvSpPr>
          <p:cNvPr id="12" name="Text 9"/>
          <p:cNvSpPr/>
          <p:nvPr/>
        </p:nvSpPr>
        <p:spPr>
          <a:xfrm>
            <a:off x="6100524" y="4558665"/>
            <a:ext cx="175379" cy="219313"/>
          </a:xfrm>
          <a:prstGeom prst="rect">
            <a:avLst/>
          </a:prstGeom>
          <a:noFill/>
          <a:ln/>
        </p:spPr>
        <p:txBody>
          <a:bodyPr wrap="none" lIns="0" tIns="0" rIns="0" bIns="0" rtlCol="0" anchor="t"/>
          <a:lstStyle/>
          <a:p>
            <a:pPr algn="l" indent="0" marL="0">
              <a:lnSpc>
                <a:spcPts val="1950"/>
              </a:lnSpc>
              <a:buNone/>
            </a:pPr>
            <a:r>
              <a:rPr lang="en-US" sz="1350" dirty="0">
                <a:solidFill>
                  <a:srgbClr val="2C2821"/>
                </a:solidFill>
                <a:latin typeface="Alice Light" pitchFamily="34" charset="0"/>
                <a:ea typeface="Alice Light" pitchFamily="34" charset="-122"/>
                <a:cs typeface="Alice Light" pitchFamily="34" charset="-120"/>
              </a:rPr>
              <a:t>03</a:t>
            </a:r>
            <a:endParaRPr lang="en-US" sz="1350" dirty="0"/>
          </a:p>
        </p:txBody>
      </p:sp>
      <p:sp>
        <p:nvSpPr>
          <p:cNvPr id="13" name="Shape 10"/>
          <p:cNvSpPr/>
          <p:nvPr/>
        </p:nvSpPr>
        <p:spPr>
          <a:xfrm>
            <a:off x="6100524" y="4833937"/>
            <a:ext cx="7915751" cy="22860"/>
          </a:xfrm>
          <a:prstGeom prst="rect">
            <a:avLst/>
          </a:prstGeom>
          <a:solidFill>
            <a:srgbClr val="1B5F39"/>
          </a:solidFill>
          <a:ln/>
        </p:spPr>
      </p:sp>
      <p:sp>
        <p:nvSpPr>
          <p:cNvPr id="14" name="Text 11"/>
          <p:cNvSpPr/>
          <p:nvPr/>
        </p:nvSpPr>
        <p:spPr>
          <a:xfrm>
            <a:off x="6100524" y="4967288"/>
            <a:ext cx="2498050" cy="274082"/>
          </a:xfrm>
          <a:prstGeom prst="rect">
            <a:avLst/>
          </a:prstGeom>
          <a:noFill/>
          <a:ln/>
        </p:spPr>
        <p:txBody>
          <a:bodyPr wrap="none" lIns="0" tIns="0" rIns="0" bIns="0" rtlCol="0" anchor="t"/>
          <a:lstStyle/>
          <a:p>
            <a:pPr algn="l" indent="0" marL="0">
              <a:lnSpc>
                <a:spcPts val="2150"/>
              </a:lnSpc>
              <a:buNone/>
            </a:pPr>
            <a:r>
              <a:rPr lang="en-US" sz="1700" dirty="0">
                <a:solidFill>
                  <a:srgbClr val="2C2821"/>
                </a:solidFill>
                <a:latin typeface="Alice" pitchFamily="34" charset="0"/>
                <a:ea typeface="Alice" pitchFamily="34" charset="-122"/>
                <a:cs typeface="Alice" pitchFamily="34" charset="-120"/>
              </a:rPr>
              <a:t>Cap on Election Expenses</a:t>
            </a:r>
            <a:endParaRPr lang="en-US" sz="1700" dirty="0"/>
          </a:p>
        </p:txBody>
      </p:sp>
      <p:sp>
        <p:nvSpPr>
          <p:cNvPr id="15" name="Text 12"/>
          <p:cNvSpPr/>
          <p:nvPr/>
        </p:nvSpPr>
        <p:spPr>
          <a:xfrm>
            <a:off x="6100524" y="5322808"/>
            <a:ext cx="7915751" cy="497919"/>
          </a:xfrm>
          <a:prstGeom prst="rect">
            <a:avLst/>
          </a:prstGeom>
          <a:noFill/>
          <a:ln/>
        </p:spPr>
        <p:txBody>
          <a:bodyPr wrap="square" lIns="0" tIns="0" rIns="0" bIns="0" rtlCol="0" anchor="t"/>
          <a:lstStyle/>
          <a:p>
            <a:pPr algn="l" indent="0" marL="0">
              <a:lnSpc>
                <a:spcPts val="1950"/>
              </a:lnSpc>
              <a:buNone/>
            </a:pPr>
            <a:r>
              <a:rPr lang="en-US" sz="1350" dirty="0">
                <a:solidFill>
                  <a:srgbClr val="2C2821"/>
                </a:solidFill>
                <a:latin typeface="Lora" pitchFamily="34" charset="0"/>
                <a:ea typeface="Lora" pitchFamily="34" charset="-122"/>
                <a:cs typeface="Lora" pitchFamily="34" charset="-120"/>
              </a:rPr>
              <a:t>Enforceable spending limits with rigorous monitoring, severe penalties for violations, and public scrutiny mechanisms</a:t>
            </a:r>
            <a:endParaRPr lang="en-US" sz="1350" dirty="0"/>
          </a:p>
        </p:txBody>
      </p:sp>
      <p:sp>
        <p:nvSpPr>
          <p:cNvPr id="16" name="Text 13"/>
          <p:cNvSpPr/>
          <p:nvPr/>
        </p:nvSpPr>
        <p:spPr>
          <a:xfrm>
            <a:off x="6100524" y="6088023"/>
            <a:ext cx="175379" cy="219313"/>
          </a:xfrm>
          <a:prstGeom prst="rect">
            <a:avLst/>
          </a:prstGeom>
          <a:noFill/>
          <a:ln/>
        </p:spPr>
        <p:txBody>
          <a:bodyPr wrap="none" lIns="0" tIns="0" rIns="0" bIns="0" rtlCol="0" anchor="t"/>
          <a:lstStyle/>
          <a:p>
            <a:pPr algn="l" indent="0" marL="0">
              <a:lnSpc>
                <a:spcPts val="1950"/>
              </a:lnSpc>
              <a:buNone/>
            </a:pPr>
            <a:r>
              <a:rPr lang="en-US" sz="1350" dirty="0">
                <a:solidFill>
                  <a:srgbClr val="2C2821"/>
                </a:solidFill>
                <a:latin typeface="Alice Light" pitchFamily="34" charset="0"/>
                <a:ea typeface="Alice Light" pitchFamily="34" charset="-122"/>
                <a:cs typeface="Alice Light" pitchFamily="34" charset="-120"/>
              </a:rPr>
              <a:t>04</a:t>
            </a:r>
            <a:endParaRPr lang="en-US" sz="1350" dirty="0"/>
          </a:p>
        </p:txBody>
      </p:sp>
      <p:sp>
        <p:nvSpPr>
          <p:cNvPr id="17" name="Shape 14"/>
          <p:cNvSpPr/>
          <p:nvPr/>
        </p:nvSpPr>
        <p:spPr>
          <a:xfrm>
            <a:off x="6100524" y="6363295"/>
            <a:ext cx="7915751" cy="22860"/>
          </a:xfrm>
          <a:prstGeom prst="rect">
            <a:avLst/>
          </a:prstGeom>
          <a:solidFill>
            <a:srgbClr val="1B5F39"/>
          </a:solidFill>
          <a:ln/>
        </p:spPr>
      </p:sp>
      <p:sp>
        <p:nvSpPr>
          <p:cNvPr id="18" name="Text 15"/>
          <p:cNvSpPr/>
          <p:nvPr/>
        </p:nvSpPr>
        <p:spPr>
          <a:xfrm>
            <a:off x="6100524" y="6496645"/>
            <a:ext cx="2641521" cy="274082"/>
          </a:xfrm>
          <a:prstGeom prst="rect">
            <a:avLst/>
          </a:prstGeom>
          <a:noFill/>
          <a:ln/>
        </p:spPr>
        <p:txBody>
          <a:bodyPr wrap="none" lIns="0" tIns="0" rIns="0" bIns="0" rtlCol="0" anchor="t"/>
          <a:lstStyle/>
          <a:p>
            <a:pPr algn="l" indent="0" marL="0">
              <a:lnSpc>
                <a:spcPts val="2150"/>
              </a:lnSpc>
              <a:buNone/>
            </a:pPr>
            <a:r>
              <a:rPr lang="en-US" sz="1700" dirty="0">
                <a:solidFill>
                  <a:srgbClr val="2C2821"/>
                </a:solidFill>
                <a:latin typeface="Alice" pitchFamily="34" charset="0"/>
                <a:ea typeface="Alice" pitchFamily="34" charset="-122"/>
                <a:cs typeface="Alice" pitchFamily="34" charset="-120"/>
              </a:rPr>
              <a:t>Enhanced Voter Awareness</a:t>
            </a:r>
            <a:endParaRPr lang="en-US" sz="1700" dirty="0"/>
          </a:p>
        </p:txBody>
      </p:sp>
      <p:sp>
        <p:nvSpPr>
          <p:cNvPr id="19" name="Text 16"/>
          <p:cNvSpPr/>
          <p:nvPr/>
        </p:nvSpPr>
        <p:spPr>
          <a:xfrm>
            <a:off x="6100524" y="6852166"/>
            <a:ext cx="7915751" cy="497919"/>
          </a:xfrm>
          <a:prstGeom prst="rect">
            <a:avLst/>
          </a:prstGeom>
          <a:noFill/>
          <a:ln/>
        </p:spPr>
        <p:txBody>
          <a:bodyPr wrap="square" lIns="0" tIns="0" rIns="0" bIns="0" rtlCol="0" anchor="t"/>
          <a:lstStyle/>
          <a:p>
            <a:pPr algn="l" indent="0" marL="0">
              <a:lnSpc>
                <a:spcPts val="1950"/>
              </a:lnSpc>
              <a:buNone/>
            </a:pPr>
            <a:r>
              <a:rPr lang="en-US" sz="1350" dirty="0">
                <a:solidFill>
                  <a:srgbClr val="2C2821"/>
                </a:solidFill>
                <a:latin typeface="Lora" pitchFamily="34" charset="0"/>
                <a:ea typeface="Lora" pitchFamily="34" charset="-122"/>
                <a:cs typeface="Lora" pitchFamily="34" charset="-120"/>
              </a:rPr>
              <a:t>Civic education programmes, candidate background disclosures, and media campaigns highlighting informed voting importance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131213"/>
            <a:ext cx="7075289"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Landmark Court Judgments</a:t>
            </a:r>
            <a:endParaRPr lang="en-US" sz="4450" dirty="0"/>
          </a:p>
        </p:txBody>
      </p:sp>
      <p:sp>
        <p:nvSpPr>
          <p:cNvPr id="3" name="Text 1"/>
          <p:cNvSpPr/>
          <p:nvPr/>
        </p:nvSpPr>
        <p:spPr>
          <a:xfrm>
            <a:off x="793790" y="2293620"/>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The judiciary has played a crucial role in strengthening electoral integrity through progressive rulings:</a:t>
            </a:r>
            <a:endParaRPr lang="en-US" sz="1750" dirty="0"/>
          </a:p>
        </p:txBody>
      </p:sp>
      <p:sp>
        <p:nvSpPr>
          <p:cNvPr id="4" name="Shape 2"/>
          <p:cNvSpPr/>
          <p:nvPr/>
        </p:nvSpPr>
        <p:spPr>
          <a:xfrm>
            <a:off x="793790" y="3251835"/>
            <a:ext cx="4196358" cy="3846433"/>
          </a:xfrm>
          <a:prstGeom prst="roundRect">
            <a:avLst>
              <a:gd name="adj" fmla="val 3804"/>
            </a:avLst>
          </a:prstGeom>
          <a:solidFill>
            <a:srgbClr val="FCFBF8"/>
          </a:solidFill>
          <a:ln/>
        </p:spPr>
      </p:sp>
      <p:sp>
        <p:nvSpPr>
          <p:cNvPr id="5" name="Shape 3"/>
          <p:cNvSpPr/>
          <p:nvPr/>
        </p:nvSpPr>
        <p:spPr>
          <a:xfrm>
            <a:off x="793790" y="3221355"/>
            <a:ext cx="4196358" cy="121920"/>
          </a:xfrm>
          <a:prstGeom prst="roundRect">
            <a:avLst>
              <a:gd name="adj" fmla="val 27907"/>
            </a:avLst>
          </a:prstGeom>
          <a:solidFill>
            <a:srgbClr val="1B5F39"/>
          </a:solidFill>
          <a:ln/>
        </p:spPr>
      </p:sp>
      <p:sp>
        <p:nvSpPr>
          <p:cNvPr id="6" name="Shape 4"/>
          <p:cNvSpPr/>
          <p:nvPr/>
        </p:nvSpPr>
        <p:spPr>
          <a:xfrm>
            <a:off x="2551688" y="2911673"/>
            <a:ext cx="680442" cy="680442"/>
          </a:xfrm>
          <a:prstGeom prst="roundRect">
            <a:avLst>
              <a:gd name="adj" fmla="val 134383"/>
            </a:avLst>
          </a:prstGeom>
          <a:solidFill>
            <a:srgbClr val="1B5F39"/>
          </a:solidFill>
          <a:ln/>
        </p:spPr>
      </p:sp>
      <p:sp>
        <p:nvSpPr>
          <p:cNvPr id="7" name="Text 5"/>
          <p:cNvSpPr/>
          <p:nvPr/>
        </p:nvSpPr>
        <p:spPr>
          <a:xfrm>
            <a:off x="2755761" y="3081814"/>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Alice" pitchFamily="34" charset="0"/>
                <a:ea typeface="Alice" pitchFamily="34" charset="-122"/>
                <a:cs typeface="Alice" pitchFamily="34" charset="-120"/>
              </a:rPr>
              <a:t>1</a:t>
            </a:r>
            <a:endParaRPr lang="en-US" sz="2100" dirty="0"/>
          </a:p>
        </p:txBody>
      </p:sp>
      <p:sp>
        <p:nvSpPr>
          <p:cNvPr id="8" name="Text 6"/>
          <p:cNvSpPr/>
          <p:nvPr/>
        </p:nvSpPr>
        <p:spPr>
          <a:xfrm>
            <a:off x="1051084" y="3818811"/>
            <a:ext cx="3681770" cy="708660"/>
          </a:xfrm>
          <a:prstGeom prst="rect">
            <a:avLst/>
          </a:prstGeom>
          <a:noFill/>
          <a:ln/>
        </p:spPr>
        <p:txBody>
          <a:bodyPr wrap="squar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Right to Know (PUCL v. Union of India, 2003)</a:t>
            </a:r>
            <a:endParaRPr lang="en-US" sz="2200" dirty="0"/>
          </a:p>
        </p:txBody>
      </p:sp>
      <p:sp>
        <p:nvSpPr>
          <p:cNvPr id="9" name="Text 7"/>
          <p:cNvSpPr/>
          <p:nvPr/>
        </p:nvSpPr>
        <p:spPr>
          <a:xfrm>
            <a:off x="1051084" y="4663559"/>
            <a:ext cx="3681770" cy="1814513"/>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Candidates must declare criminal records, assets, education, and pending cases. Voters' right to information recognised as fundamental under Article 19(1)(a)</a:t>
            </a:r>
            <a:endParaRPr lang="en-US" sz="1750" dirty="0"/>
          </a:p>
        </p:txBody>
      </p:sp>
      <p:sp>
        <p:nvSpPr>
          <p:cNvPr id="10" name="Shape 8"/>
          <p:cNvSpPr/>
          <p:nvPr/>
        </p:nvSpPr>
        <p:spPr>
          <a:xfrm>
            <a:off x="5216962" y="3251835"/>
            <a:ext cx="4196358" cy="3846433"/>
          </a:xfrm>
          <a:prstGeom prst="roundRect">
            <a:avLst>
              <a:gd name="adj" fmla="val 3804"/>
            </a:avLst>
          </a:prstGeom>
          <a:solidFill>
            <a:srgbClr val="FCFBF8"/>
          </a:solidFill>
          <a:ln/>
        </p:spPr>
      </p:sp>
      <p:sp>
        <p:nvSpPr>
          <p:cNvPr id="11" name="Shape 9"/>
          <p:cNvSpPr/>
          <p:nvPr/>
        </p:nvSpPr>
        <p:spPr>
          <a:xfrm>
            <a:off x="5216962" y="3221355"/>
            <a:ext cx="4196358" cy="121920"/>
          </a:xfrm>
          <a:prstGeom prst="roundRect">
            <a:avLst>
              <a:gd name="adj" fmla="val 27907"/>
            </a:avLst>
          </a:prstGeom>
          <a:solidFill>
            <a:srgbClr val="1B5F39"/>
          </a:solidFill>
          <a:ln/>
        </p:spPr>
      </p:sp>
      <p:sp>
        <p:nvSpPr>
          <p:cNvPr id="12" name="Shape 10"/>
          <p:cNvSpPr/>
          <p:nvPr/>
        </p:nvSpPr>
        <p:spPr>
          <a:xfrm>
            <a:off x="6974860" y="2911673"/>
            <a:ext cx="680442" cy="680442"/>
          </a:xfrm>
          <a:prstGeom prst="roundRect">
            <a:avLst>
              <a:gd name="adj" fmla="val 134383"/>
            </a:avLst>
          </a:prstGeom>
          <a:solidFill>
            <a:srgbClr val="1B5F39"/>
          </a:solidFill>
          <a:ln/>
        </p:spPr>
      </p:sp>
      <p:sp>
        <p:nvSpPr>
          <p:cNvPr id="13" name="Text 11"/>
          <p:cNvSpPr/>
          <p:nvPr/>
        </p:nvSpPr>
        <p:spPr>
          <a:xfrm>
            <a:off x="7178933" y="3081814"/>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Alice" pitchFamily="34" charset="0"/>
                <a:ea typeface="Alice" pitchFamily="34" charset="-122"/>
                <a:cs typeface="Alice" pitchFamily="34" charset="-120"/>
              </a:rPr>
              <a:t>2</a:t>
            </a:r>
            <a:endParaRPr lang="en-US" sz="2100" dirty="0"/>
          </a:p>
        </p:txBody>
      </p:sp>
      <p:sp>
        <p:nvSpPr>
          <p:cNvPr id="14" name="Text 12"/>
          <p:cNvSpPr/>
          <p:nvPr/>
        </p:nvSpPr>
        <p:spPr>
          <a:xfrm>
            <a:off x="5474256" y="3818811"/>
            <a:ext cx="3681770" cy="708660"/>
          </a:xfrm>
          <a:prstGeom prst="rect">
            <a:avLst/>
          </a:prstGeom>
          <a:noFill/>
          <a:ln/>
        </p:spPr>
        <p:txBody>
          <a:bodyPr wrap="squar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NOTA Introduction (People's Union v. Union, 2013)</a:t>
            </a:r>
            <a:endParaRPr lang="en-US" sz="2200" dirty="0"/>
          </a:p>
        </p:txBody>
      </p:sp>
      <p:sp>
        <p:nvSpPr>
          <p:cNvPr id="15" name="Text 13"/>
          <p:cNvSpPr/>
          <p:nvPr/>
        </p:nvSpPr>
        <p:spPr>
          <a:xfrm>
            <a:off x="5474256" y="4663559"/>
            <a:ext cx="3681770" cy="1451610"/>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Supreme Court mandated negative voting option, empowering voters to reject all candidates if none meet ethical standards</a:t>
            </a:r>
            <a:endParaRPr lang="en-US" sz="1750" dirty="0"/>
          </a:p>
        </p:txBody>
      </p:sp>
      <p:sp>
        <p:nvSpPr>
          <p:cNvPr id="16" name="Shape 14"/>
          <p:cNvSpPr/>
          <p:nvPr/>
        </p:nvSpPr>
        <p:spPr>
          <a:xfrm>
            <a:off x="9640133" y="3251835"/>
            <a:ext cx="4196358" cy="3846433"/>
          </a:xfrm>
          <a:prstGeom prst="roundRect">
            <a:avLst>
              <a:gd name="adj" fmla="val 3804"/>
            </a:avLst>
          </a:prstGeom>
          <a:solidFill>
            <a:srgbClr val="FCFBF8"/>
          </a:solidFill>
          <a:ln/>
        </p:spPr>
      </p:sp>
      <p:sp>
        <p:nvSpPr>
          <p:cNvPr id="17" name="Shape 15"/>
          <p:cNvSpPr/>
          <p:nvPr/>
        </p:nvSpPr>
        <p:spPr>
          <a:xfrm>
            <a:off x="9640133" y="3221355"/>
            <a:ext cx="4196358" cy="121920"/>
          </a:xfrm>
          <a:prstGeom prst="roundRect">
            <a:avLst>
              <a:gd name="adj" fmla="val 27907"/>
            </a:avLst>
          </a:prstGeom>
          <a:solidFill>
            <a:srgbClr val="1B5F39"/>
          </a:solidFill>
          <a:ln/>
        </p:spPr>
      </p:sp>
      <p:sp>
        <p:nvSpPr>
          <p:cNvPr id="18" name="Shape 16"/>
          <p:cNvSpPr/>
          <p:nvPr/>
        </p:nvSpPr>
        <p:spPr>
          <a:xfrm>
            <a:off x="11398032" y="2911673"/>
            <a:ext cx="680442" cy="680442"/>
          </a:xfrm>
          <a:prstGeom prst="roundRect">
            <a:avLst>
              <a:gd name="adj" fmla="val 134383"/>
            </a:avLst>
          </a:prstGeom>
          <a:solidFill>
            <a:srgbClr val="1B5F39"/>
          </a:solidFill>
          <a:ln/>
        </p:spPr>
      </p:sp>
      <p:sp>
        <p:nvSpPr>
          <p:cNvPr id="19" name="Text 17"/>
          <p:cNvSpPr/>
          <p:nvPr/>
        </p:nvSpPr>
        <p:spPr>
          <a:xfrm>
            <a:off x="11602105" y="3081814"/>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Alice" pitchFamily="34" charset="0"/>
                <a:ea typeface="Alice" pitchFamily="34" charset="-122"/>
                <a:cs typeface="Alice" pitchFamily="34" charset="-120"/>
              </a:rPr>
              <a:t>3</a:t>
            </a:r>
            <a:endParaRPr lang="en-US" sz="2100" dirty="0"/>
          </a:p>
        </p:txBody>
      </p:sp>
      <p:sp>
        <p:nvSpPr>
          <p:cNvPr id="20" name="Text 18"/>
          <p:cNvSpPr/>
          <p:nvPr/>
        </p:nvSpPr>
        <p:spPr>
          <a:xfrm>
            <a:off x="9897427" y="3818811"/>
            <a:ext cx="3681770" cy="708660"/>
          </a:xfrm>
          <a:prstGeom prst="rect">
            <a:avLst/>
          </a:prstGeom>
          <a:noFill/>
          <a:ln/>
        </p:spPr>
        <p:txBody>
          <a:bodyPr wrap="squar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VVPAT Verification (2013 onwards)</a:t>
            </a:r>
            <a:endParaRPr lang="en-US" sz="2200" dirty="0"/>
          </a:p>
        </p:txBody>
      </p:sp>
      <p:sp>
        <p:nvSpPr>
          <p:cNvPr id="21" name="Text 19"/>
          <p:cNvSpPr/>
          <p:nvPr/>
        </p:nvSpPr>
        <p:spPr>
          <a:xfrm>
            <a:off x="9897427" y="4663559"/>
            <a:ext cx="3681770" cy="217741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Order for Voter Verifiable Paper Audit Trail machines, enabling physical confirmation of electronic votes cast, ensuring electoral transparency and accountability</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3899" y="560903"/>
            <a:ext cx="9449157" cy="637342"/>
          </a:xfrm>
          <a:prstGeom prst="rect">
            <a:avLst/>
          </a:prstGeom>
          <a:noFill/>
          <a:ln/>
        </p:spPr>
        <p:txBody>
          <a:bodyPr wrap="none" lIns="0" tIns="0" rIns="0" bIns="0" rtlCol="0" anchor="t"/>
          <a:lstStyle/>
          <a:p>
            <a:pPr algn="l" indent="0" marL="0">
              <a:lnSpc>
                <a:spcPts val="5000"/>
              </a:lnSpc>
              <a:buNone/>
            </a:pPr>
            <a:r>
              <a:rPr lang="en-US" sz="4000" dirty="0">
                <a:solidFill>
                  <a:srgbClr val="233E32"/>
                </a:solidFill>
                <a:latin typeface="Alice" pitchFamily="34" charset="0"/>
                <a:ea typeface="Alice" pitchFamily="34" charset="-122"/>
                <a:cs typeface="Alice" pitchFamily="34" charset="-120"/>
              </a:rPr>
              <a:t>Postal Ballot: Ensuring Every Vote Counts</a:t>
            </a:r>
            <a:endParaRPr lang="en-US" sz="4000" dirty="0"/>
          </a:p>
        </p:txBody>
      </p:sp>
      <p:sp>
        <p:nvSpPr>
          <p:cNvPr id="3" name="Text 1"/>
          <p:cNvSpPr/>
          <p:nvPr/>
        </p:nvSpPr>
        <p:spPr>
          <a:xfrm>
            <a:off x="713899" y="2827377"/>
            <a:ext cx="3102531" cy="382429"/>
          </a:xfrm>
          <a:prstGeom prst="rect">
            <a:avLst/>
          </a:prstGeom>
          <a:noFill/>
          <a:ln/>
        </p:spPr>
        <p:txBody>
          <a:bodyPr wrap="none" lIns="0" tIns="0" rIns="0" bIns="0" rtlCol="0" anchor="t"/>
          <a:lstStyle/>
          <a:p>
            <a:pPr algn="l" indent="0" marL="0">
              <a:lnSpc>
                <a:spcPts val="3000"/>
              </a:lnSpc>
              <a:buNone/>
            </a:pPr>
            <a:r>
              <a:rPr lang="en-US" sz="2400" dirty="0">
                <a:solidFill>
                  <a:srgbClr val="233E32"/>
                </a:solidFill>
                <a:latin typeface="Alice" pitchFamily="34" charset="0"/>
                <a:ea typeface="Alice" pitchFamily="34" charset="-122"/>
                <a:cs typeface="Alice" pitchFamily="34" charset="-120"/>
              </a:rPr>
              <a:t>Who Can Vote by Post?</a:t>
            </a:r>
            <a:endParaRPr lang="en-US" sz="2400" dirty="0"/>
          </a:p>
        </p:txBody>
      </p:sp>
      <p:sp>
        <p:nvSpPr>
          <p:cNvPr id="4" name="Text 2"/>
          <p:cNvSpPr/>
          <p:nvPr/>
        </p:nvSpPr>
        <p:spPr>
          <a:xfrm>
            <a:off x="713899" y="3393162"/>
            <a:ext cx="4297323" cy="3044904"/>
          </a:xfrm>
          <a:prstGeom prst="rect">
            <a:avLst/>
          </a:prstGeom>
          <a:noFill/>
          <a:ln/>
        </p:spPr>
        <p:txBody>
          <a:bodyPr wrap="square" lIns="0" tIns="0" rIns="0" bIns="0" rtlCol="0" anchor="t"/>
          <a:lstStyle/>
          <a:p>
            <a:pPr algn="l" marL="342900" indent="-342900">
              <a:lnSpc>
                <a:spcPts val="2400"/>
              </a:lnSpc>
              <a:buSzPct val="100000"/>
              <a:buChar char="•"/>
            </a:pPr>
            <a:r>
              <a:rPr lang="en-US" sz="1600" dirty="0">
                <a:solidFill>
                  <a:srgbClr val="2C2821"/>
                </a:solidFill>
                <a:latin typeface="Lora" pitchFamily="34" charset="0"/>
                <a:ea typeface="Lora" pitchFamily="34" charset="-122"/>
                <a:cs typeface="Lora" pitchFamily="34" charset="-120"/>
              </a:rPr>
              <a:t>Government employees on election duty in other constituencies</a:t>
            </a:r>
            <a:endParaRPr lang="en-US" sz="1600" dirty="0"/>
          </a:p>
          <a:p>
            <a:pPr algn="l" marL="342900" indent="-342900">
              <a:lnSpc>
                <a:spcPts val="2400"/>
              </a:lnSpc>
              <a:buSzPct val="100000"/>
              <a:buChar char="•"/>
            </a:pPr>
            <a:r>
              <a:rPr lang="en-US" sz="1600" dirty="0">
                <a:solidFill>
                  <a:srgbClr val="2C2821"/>
                </a:solidFill>
                <a:latin typeface="Lora" pitchFamily="34" charset="0"/>
                <a:ea typeface="Lora" pitchFamily="34" charset="-122"/>
                <a:cs typeface="Lora" pitchFamily="34" charset="-120"/>
              </a:rPr>
              <a:t>Armed forces personnel deployed during polling</a:t>
            </a:r>
            <a:endParaRPr lang="en-US" sz="1600" dirty="0"/>
          </a:p>
          <a:p>
            <a:pPr algn="l" marL="342900" indent="-342900">
              <a:lnSpc>
                <a:spcPts val="2400"/>
              </a:lnSpc>
              <a:buSzPct val="100000"/>
              <a:buChar char="•"/>
            </a:pPr>
            <a:r>
              <a:rPr lang="en-US" sz="1600" dirty="0">
                <a:solidFill>
                  <a:srgbClr val="2C2821"/>
                </a:solidFill>
                <a:latin typeface="Lora" pitchFamily="34" charset="0"/>
                <a:ea typeface="Lora" pitchFamily="34" charset="-122"/>
                <a:cs typeface="Lora" pitchFamily="34" charset="-120"/>
              </a:rPr>
              <a:t>Government officials serving outside India</a:t>
            </a:r>
            <a:endParaRPr lang="en-US" sz="1600" dirty="0"/>
          </a:p>
          <a:p>
            <a:pPr algn="l" marL="342900" indent="-342900">
              <a:lnSpc>
                <a:spcPts val="2400"/>
              </a:lnSpc>
              <a:buSzPct val="100000"/>
              <a:buChar char="•"/>
            </a:pPr>
            <a:r>
              <a:rPr lang="en-US" sz="1600" dirty="0">
                <a:solidFill>
                  <a:srgbClr val="2C2821"/>
                </a:solidFill>
                <a:latin typeface="Lora" pitchFamily="34" charset="0"/>
                <a:ea typeface="Lora" pitchFamily="34" charset="-122"/>
                <a:cs typeface="Lora" pitchFamily="34" charset="-120"/>
              </a:rPr>
              <a:t>Persons with disabilities or illness preventing physical polling attendance</a:t>
            </a:r>
            <a:endParaRPr lang="en-US" sz="1600" dirty="0"/>
          </a:p>
          <a:p>
            <a:pPr algn="l" marL="342900" indent="-342900">
              <a:lnSpc>
                <a:spcPts val="2400"/>
              </a:lnSpc>
              <a:buSzPct val="100000"/>
              <a:buChar char="•"/>
            </a:pPr>
            <a:r>
              <a:rPr lang="en-US" sz="1600" dirty="0">
                <a:solidFill>
                  <a:srgbClr val="2C2821"/>
                </a:solidFill>
                <a:latin typeface="Lora" pitchFamily="34" charset="0"/>
                <a:ea typeface="Lora" pitchFamily="34" charset="-122"/>
                <a:cs typeface="Lora" pitchFamily="34" charset="-120"/>
              </a:rPr>
              <a:t>Individuals under preventive detention</a:t>
            </a:r>
            <a:endParaRPr lang="en-US" sz="1600" dirty="0"/>
          </a:p>
        </p:txBody>
      </p:sp>
      <p:pic>
        <p:nvPicPr>
          <p:cNvPr id="5" name="Image 0" descr="preencoded.png">    </p:cNvPr>
          <p:cNvPicPr>
            <a:picLocks noChangeAspect="1"/>
          </p:cNvPicPr>
          <p:nvPr/>
        </p:nvPicPr>
        <p:blipFill>
          <a:blip r:embed="rId1"/>
          <a:stretch>
            <a:fillRect/>
          </a:stretch>
        </p:blipFill>
        <p:spPr>
          <a:xfrm>
            <a:off x="5516523" y="1679734"/>
            <a:ext cx="8407479" cy="4692491"/>
          </a:xfrm>
          <a:prstGeom prst="rect">
            <a:avLst/>
          </a:prstGeom>
        </p:spPr>
      </p:pic>
      <p:sp>
        <p:nvSpPr>
          <p:cNvPr id="6" name="Text 3"/>
          <p:cNvSpPr/>
          <p:nvPr/>
        </p:nvSpPr>
        <p:spPr>
          <a:xfrm>
            <a:off x="5516523" y="6578560"/>
            <a:ext cx="8407479" cy="929402"/>
          </a:xfrm>
          <a:prstGeom prst="rect">
            <a:avLst/>
          </a:prstGeom>
          <a:noFill/>
          <a:ln/>
        </p:spPr>
        <p:txBody>
          <a:bodyPr wrap="square" lIns="0" tIns="0" rIns="0" bIns="0" rtlCol="0" anchor="t"/>
          <a:lstStyle/>
          <a:p>
            <a:pPr algn="l" indent="0" marL="0">
              <a:lnSpc>
                <a:spcPts val="2400"/>
              </a:lnSpc>
              <a:buNone/>
            </a:pPr>
            <a:r>
              <a:rPr lang="en-US" sz="1600" b="1" dirty="0">
                <a:solidFill>
                  <a:srgbClr val="2C2821"/>
                </a:solidFill>
                <a:latin typeface="Lora" pitchFamily="34" charset="0"/>
                <a:ea typeface="Lora" pitchFamily="34" charset="-122"/>
                <a:cs typeface="Lora" pitchFamily="34" charset="-120"/>
              </a:rPr>
              <a:t>How It Works:</a:t>
            </a:r>
            <a:pPr algn="l" indent="0" marL="0">
              <a:lnSpc>
                <a:spcPts val="2400"/>
              </a:lnSpc>
              <a:buNone/>
            </a:pPr>
            <a:r>
              <a:rPr lang="en-US" sz="1600" dirty="0">
                <a:solidFill>
                  <a:srgbClr val="2C2821"/>
                </a:solidFill>
                <a:latin typeface="Lora" pitchFamily="34" charset="0"/>
                <a:ea typeface="Lora" pitchFamily="34" charset="-122"/>
                <a:cs typeface="Lora" pitchFamily="34" charset="-120"/>
              </a:rPr>
              <a:t> Eligible voters receive ballot papers by post, mark their choice confidentially, and return sealed ballots. This remote voting mechanism ensures no citizen is disenfranchised by geographical or service-related constraints.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009442" y="1703070"/>
            <a:ext cx="6171009" cy="466963"/>
          </a:xfrm>
          <a:prstGeom prst="rect">
            <a:avLst/>
          </a:prstGeom>
          <a:noFill/>
          <a:ln/>
        </p:spPr>
        <p:txBody>
          <a:bodyPr wrap="none" lIns="0" tIns="0" rIns="0" bIns="0" rtlCol="0" anchor="t"/>
          <a:lstStyle/>
          <a:p>
            <a:pPr algn="l" indent="0" marL="0">
              <a:lnSpc>
                <a:spcPts val="3650"/>
              </a:lnSpc>
              <a:buNone/>
            </a:pPr>
            <a:r>
              <a:rPr lang="en-US" sz="2900" dirty="0">
                <a:solidFill>
                  <a:srgbClr val="233E32"/>
                </a:solidFill>
                <a:latin typeface="Alice" pitchFamily="34" charset="0"/>
                <a:ea typeface="Alice" pitchFamily="34" charset="-122"/>
                <a:cs typeface="Alice" pitchFamily="34" charset="-120"/>
              </a:rPr>
              <a:t>Cancellation of Elections: Last Resort</a:t>
            </a:r>
            <a:endParaRPr lang="en-US" sz="2900" dirty="0"/>
          </a:p>
        </p:txBody>
      </p:sp>
      <p:sp>
        <p:nvSpPr>
          <p:cNvPr id="4" name="Text 1"/>
          <p:cNvSpPr/>
          <p:nvPr/>
        </p:nvSpPr>
        <p:spPr>
          <a:xfrm>
            <a:off x="6009442" y="2416135"/>
            <a:ext cx="3413403" cy="280154"/>
          </a:xfrm>
          <a:prstGeom prst="rect">
            <a:avLst/>
          </a:prstGeom>
          <a:noFill/>
          <a:ln/>
        </p:spPr>
        <p:txBody>
          <a:bodyPr wrap="none" lIns="0" tIns="0" rIns="0" bIns="0" rtlCol="0" anchor="t"/>
          <a:lstStyle/>
          <a:p>
            <a:pPr algn="l" indent="0" marL="0">
              <a:lnSpc>
                <a:spcPts val="2200"/>
              </a:lnSpc>
              <a:buNone/>
            </a:pPr>
            <a:r>
              <a:rPr lang="en-US" sz="1750" dirty="0">
                <a:solidFill>
                  <a:srgbClr val="233E32"/>
                </a:solidFill>
                <a:latin typeface="Alice" pitchFamily="34" charset="0"/>
                <a:ea typeface="Alice" pitchFamily="34" charset="-122"/>
                <a:cs typeface="Alice" pitchFamily="34" charset="-120"/>
              </a:rPr>
              <a:t>When Can Elections Be Cancelled?</a:t>
            </a:r>
            <a:endParaRPr lang="en-US" sz="1750" dirty="0"/>
          </a:p>
        </p:txBody>
      </p:sp>
      <p:sp>
        <p:nvSpPr>
          <p:cNvPr id="5" name="Text 2"/>
          <p:cNvSpPr/>
          <p:nvPr/>
        </p:nvSpPr>
        <p:spPr>
          <a:xfrm>
            <a:off x="6009442" y="2794754"/>
            <a:ext cx="3866674" cy="594717"/>
          </a:xfrm>
          <a:prstGeom prst="rect">
            <a:avLst/>
          </a:prstGeom>
          <a:noFill/>
          <a:ln/>
        </p:spPr>
        <p:txBody>
          <a:bodyPr wrap="square" lIns="0" tIns="0" rIns="0" bIns="0" rtlCol="0" anchor="t"/>
          <a:lstStyle/>
          <a:p>
            <a:pPr algn="l" indent="0" marL="0">
              <a:lnSpc>
                <a:spcPts val="1550"/>
              </a:lnSpc>
              <a:buNone/>
            </a:pPr>
            <a:r>
              <a:rPr lang="en-US" sz="1150" dirty="0">
                <a:solidFill>
                  <a:srgbClr val="2C2821"/>
                </a:solidFill>
                <a:latin typeface="Lora" pitchFamily="34" charset="0"/>
                <a:ea typeface="Lora" pitchFamily="34" charset="-122"/>
                <a:cs typeface="Lora" pitchFamily="34" charset="-120"/>
              </a:rPr>
              <a:t>The Election Commission possesses constitutional authority under Article 324 to countermand polls if malpractice severely compromises fairness.</a:t>
            </a:r>
            <a:endParaRPr lang="en-US" sz="1150" dirty="0"/>
          </a:p>
        </p:txBody>
      </p:sp>
      <p:sp>
        <p:nvSpPr>
          <p:cNvPr id="6" name="Text 3"/>
          <p:cNvSpPr/>
          <p:nvPr/>
        </p:nvSpPr>
        <p:spPr>
          <a:xfrm>
            <a:off x="10248305" y="2416135"/>
            <a:ext cx="2505908" cy="280154"/>
          </a:xfrm>
          <a:prstGeom prst="rect">
            <a:avLst/>
          </a:prstGeom>
          <a:noFill/>
          <a:ln/>
        </p:spPr>
        <p:txBody>
          <a:bodyPr wrap="none" lIns="0" tIns="0" rIns="0" bIns="0" rtlCol="0" anchor="t"/>
          <a:lstStyle/>
          <a:p>
            <a:pPr algn="l" indent="0" marL="0">
              <a:lnSpc>
                <a:spcPts val="2200"/>
              </a:lnSpc>
              <a:buNone/>
            </a:pPr>
            <a:r>
              <a:rPr lang="en-US" sz="1750" dirty="0">
                <a:solidFill>
                  <a:srgbClr val="233E32"/>
                </a:solidFill>
                <a:latin typeface="Alice" pitchFamily="34" charset="0"/>
                <a:ea typeface="Alice" pitchFamily="34" charset="-122"/>
                <a:cs typeface="Alice" pitchFamily="34" charset="-120"/>
              </a:rPr>
              <a:t>Grounds for Cancellation</a:t>
            </a:r>
            <a:endParaRPr lang="en-US" sz="1750" dirty="0"/>
          </a:p>
        </p:txBody>
      </p:sp>
      <p:sp>
        <p:nvSpPr>
          <p:cNvPr id="7" name="Text 4"/>
          <p:cNvSpPr/>
          <p:nvPr/>
        </p:nvSpPr>
        <p:spPr>
          <a:xfrm>
            <a:off x="10248305" y="2794754"/>
            <a:ext cx="3866674" cy="896183"/>
          </a:xfrm>
          <a:prstGeom prst="rect">
            <a:avLst/>
          </a:prstGeom>
          <a:noFill/>
          <a:ln/>
        </p:spPr>
        <p:txBody>
          <a:bodyPr wrap="square" lIns="0" tIns="0" rIns="0" bIns="0" rtlCol="0" anchor="t"/>
          <a:lstStyle/>
          <a:p>
            <a:pPr algn="l" marL="342900" indent="-342900">
              <a:lnSpc>
                <a:spcPts val="1550"/>
              </a:lnSpc>
              <a:buSzPct val="100000"/>
              <a:buChar char="•"/>
            </a:pPr>
            <a:r>
              <a:rPr lang="en-US" sz="1150" dirty="0">
                <a:solidFill>
                  <a:srgbClr val="2C2821"/>
                </a:solidFill>
                <a:latin typeface="Lora" pitchFamily="34" charset="0"/>
                <a:ea typeface="Lora" pitchFamily="34" charset="-122"/>
                <a:cs typeface="Lora" pitchFamily="34" charset="-120"/>
              </a:rPr>
              <a:t>Systematic rigging or booth capturing</a:t>
            </a:r>
            <a:endParaRPr lang="en-US" sz="1150" dirty="0"/>
          </a:p>
          <a:p>
            <a:pPr algn="l" marL="342900" indent="-342900">
              <a:lnSpc>
                <a:spcPts val="1550"/>
              </a:lnSpc>
              <a:buSzPct val="100000"/>
              <a:buChar char="•"/>
            </a:pPr>
            <a:r>
              <a:rPr lang="en-US" sz="1150" dirty="0">
                <a:solidFill>
                  <a:srgbClr val="2C2821"/>
                </a:solidFill>
                <a:latin typeface="Lora" pitchFamily="34" charset="0"/>
                <a:ea typeface="Lora" pitchFamily="34" charset="-122"/>
                <a:cs typeface="Lora" pitchFamily="34" charset="-120"/>
              </a:rPr>
              <a:t>Widespread bribery or intimidation</a:t>
            </a:r>
            <a:endParaRPr lang="en-US" sz="1150" dirty="0"/>
          </a:p>
          <a:p>
            <a:pPr algn="l" marL="342900" indent="-342900">
              <a:lnSpc>
                <a:spcPts val="1550"/>
              </a:lnSpc>
              <a:buSzPct val="100000"/>
              <a:buChar char="•"/>
            </a:pPr>
            <a:r>
              <a:rPr lang="en-US" sz="1150" dirty="0">
                <a:solidFill>
                  <a:srgbClr val="2C2821"/>
                </a:solidFill>
                <a:latin typeface="Lora" pitchFamily="34" charset="0"/>
                <a:ea typeface="Lora" pitchFamily="34" charset="-122"/>
                <a:cs typeface="Lora" pitchFamily="34" charset="-120"/>
              </a:rPr>
              <a:t>Criminal interference with polling process</a:t>
            </a:r>
            <a:endParaRPr lang="en-US" sz="1150" dirty="0"/>
          </a:p>
          <a:p>
            <a:pPr algn="l" marL="342900" indent="-342900">
              <a:lnSpc>
                <a:spcPts val="1550"/>
              </a:lnSpc>
              <a:buSzPct val="100000"/>
              <a:buChar char="•"/>
            </a:pPr>
            <a:r>
              <a:rPr lang="en-US" sz="1150" dirty="0">
                <a:solidFill>
                  <a:srgbClr val="2C2821"/>
                </a:solidFill>
                <a:latin typeface="Lora" pitchFamily="34" charset="0"/>
                <a:ea typeface="Lora" pitchFamily="34" charset="-122"/>
                <a:cs typeface="Lora" pitchFamily="34" charset="-120"/>
              </a:rPr>
              <a:t>Failure of electoral machinery</a:t>
            </a:r>
            <a:endParaRPr lang="en-US" sz="1150" dirty="0"/>
          </a:p>
        </p:txBody>
      </p:sp>
      <p:pic>
        <p:nvPicPr>
          <p:cNvPr id="8" name="Image 1" descr="preencoded.png">    </p:cNvPr>
          <p:cNvPicPr>
            <a:picLocks noChangeAspect="1"/>
          </p:cNvPicPr>
          <p:nvPr/>
        </p:nvPicPr>
        <p:blipFill>
          <a:blip r:embed="rId2"/>
          <a:stretch>
            <a:fillRect/>
          </a:stretch>
        </p:blipFill>
        <p:spPr>
          <a:xfrm>
            <a:off x="6009442" y="3836075"/>
            <a:ext cx="747236" cy="896779"/>
          </a:xfrm>
          <a:prstGeom prst="rect">
            <a:avLst/>
          </a:prstGeom>
        </p:spPr>
      </p:pic>
      <p:sp>
        <p:nvSpPr>
          <p:cNvPr id="9" name="Text 5"/>
          <p:cNvSpPr/>
          <p:nvPr/>
        </p:nvSpPr>
        <p:spPr>
          <a:xfrm>
            <a:off x="6855143" y="3985498"/>
            <a:ext cx="1868210" cy="233482"/>
          </a:xfrm>
          <a:prstGeom prst="rect">
            <a:avLst/>
          </a:prstGeom>
          <a:noFill/>
          <a:ln/>
        </p:spPr>
        <p:txBody>
          <a:bodyPr wrap="none" lIns="0" tIns="0" rIns="0" bIns="0" rtlCol="0" anchor="t"/>
          <a:lstStyle/>
          <a:p>
            <a:pPr algn="l" indent="0" marL="0">
              <a:lnSpc>
                <a:spcPts val="1800"/>
              </a:lnSpc>
              <a:buNone/>
            </a:pPr>
            <a:r>
              <a:rPr lang="en-US" sz="1450" dirty="0">
                <a:solidFill>
                  <a:srgbClr val="2C2821"/>
                </a:solidFill>
                <a:latin typeface="Alice" pitchFamily="34" charset="0"/>
                <a:ea typeface="Alice" pitchFamily="34" charset="-122"/>
                <a:cs typeface="Alice" pitchFamily="34" charset="-120"/>
              </a:rPr>
              <a:t>Evidence Gathering</a:t>
            </a:r>
            <a:endParaRPr lang="en-US" sz="1450" dirty="0"/>
          </a:p>
        </p:txBody>
      </p:sp>
      <p:sp>
        <p:nvSpPr>
          <p:cNvPr id="10" name="Text 6"/>
          <p:cNvSpPr/>
          <p:nvPr/>
        </p:nvSpPr>
        <p:spPr>
          <a:xfrm>
            <a:off x="6855143" y="4278035"/>
            <a:ext cx="7252216" cy="198239"/>
          </a:xfrm>
          <a:prstGeom prst="rect">
            <a:avLst/>
          </a:prstGeom>
          <a:noFill/>
          <a:ln/>
        </p:spPr>
        <p:txBody>
          <a:bodyPr wrap="none" lIns="0" tIns="0" rIns="0" bIns="0" rtlCol="0" anchor="t"/>
          <a:lstStyle/>
          <a:p>
            <a:pPr algn="l" indent="0" marL="0">
              <a:lnSpc>
                <a:spcPts val="1550"/>
              </a:lnSpc>
              <a:buNone/>
            </a:pPr>
            <a:r>
              <a:rPr lang="en-US" sz="1150" dirty="0">
                <a:solidFill>
                  <a:srgbClr val="2C2821"/>
                </a:solidFill>
                <a:latin typeface="Lora" pitchFamily="34" charset="0"/>
                <a:ea typeface="Lora" pitchFamily="34" charset="-122"/>
                <a:cs typeface="Lora" pitchFamily="34" charset="-120"/>
              </a:rPr>
              <a:t>EC monitors complaints and verifies malpractice allegations</a:t>
            </a:r>
            <a:endParaRPr lang="en-US" sz="1150" dirty="0"/>
          </a:p>
        </p:txBody>
      </p:sp>
      <p:pic>
        <p:nvPicPr>
          <p:cNvPr id="11" name="Image 2" descr="preencoded.png">    </p:cNvPr>
          <p:cNvPicPr>
            <a:picLocks noChangeAspect="1"/>
          </p:cNvPicPr>
          <p:nvPr/>
        </p:nvPicPr>
        <p:blipFill>
          <a:blip r:embed="rId3"/>
          <a:stretch>
            <a:fillRect/>
          </a:stretch>
        </p:blipFill>
        <p:spPr>
          <a:xfrm>
            <a:off x="6009442" y="4732853"/>
            <a:ext cx="747236" cy="896779"/>
          </a:xfrm>
          <a:prstGeom prst="rect">
            <a:avLst/>
          </a:prstGeom>
        </p:spPr>
      </p:pic>
      <p:sp>
        <p:nvSpPr>
          <p:cNvPr id="12" name="Text 7"/>
          <p:cNvSpPr/>
          <p:nvPr/>
        </p:nvSpPr>
        <p:spPr>
          <a:xfrm>
            <a:off x="6855143" y="4882277"/>
            <a:ext cx="1868210" cy="233482"/>
          </a:xfrm>
          <a:prstGeom prst="rect">
            <a:avLst/>
          </a:prstGeom>
          <a:noFill/>
          <a:ln/>
        </p:spPr>
        <p:txBody>
          <a:bodyPr wrap="none" lIns="0" tIns="0" rIns="0" bIns="0" rtlCol="0" anchor="t"/>
          <a:lstStyle/>
          <a:p>
            <a:pPr algn="l" indent="0" marL="0">
              <a:lnSpc>
                <a:spcPts val="1800"/>
              </a:lnSpc>
              <a:buNone/>
            </a:pPr>
            <a:r>
              <a:rPr lang="en-US" sz="1450" dirty="0">
                <a:solidFill>
                  <a:srgbClr val="2C2821"/>
                </a:solidFill>
                <a:latin typeface="Alice" pitchFamily="34" charset="0"/>
                <a:ea typeface="Alice" pitchFamily="34" charset="-122"/>
                <a:cs typeface="Alice" pitchFamily="34" charset="-120"/>
              </a:rPr>
              <a:t>Decision</a:t>
            </a:r>
            <a:endParaRPr lang="en-US" sz="1450" dirty="0"/>
          </a:p>
        </p:txBody>
      </p:sp>
      <p:sp>
        <p:nvSpPr>
          <p:cNvPr id="13" name="Text 8"/>
          <p:cNvSpPr/>
          <p:nvPr/>
        </p:nvSpPr>
        <p:spPr>
          <a:xfrm>
            <a:off x="6855143" y="5174813"/>
            <a:ext cx="7252216" cy="198239"/>
          </a:xfrm>
          <a:prstGeom prst="rect">
            <a:avLst/>
          </a:prstGeom>
          <a:noFill/>
          <a:ln/>
        </p:spPr>
        <p:txBody>
          <a:bodyPr wrap="none" lIns="0" tIns="0" rIns="0" bIns="0" rtlCol="0" anchor="t"/>
          <a:lstStyle/>
          <a:p>
            <a:pPr algn="l" indent="0" marL="0">
              <a:lnSpc>
                <a:spcPts val="1550"/>
              </a:lnSpc>
              <a:buNone/>
            </a:pPr>
            <a:r>
              <a:rPr lang="en-US" sz="1150" dirty="0">
                <a:solidFill>
                  <a:srgbClr val="2C2821"/>
                </a:solidFill>
                <a:latin typeface="Lora" pitchFamily="34" charset="0"/>
                <a:ea typeface="Lora" pitchFamily="34" charset="-122"/>
                <a:cs typeface="Lora" pitchFamily="34" charset="-120"/>
              </a:rPr>
              <a:t>EC exercises discretionary power under Article 324</a:t>
            </a:r>
            <a:endParaRPr lang="en-US" sz="1150" dirty="0"/>
          </a:p>
        </p:txBody>
      </p:sp>
      <p:pic>
        <p:nvPicPr>
          <p:cNvPr id="14" name="Image 3" descr="preencoded.png">    </p:cNvPr>
          <p:cNvPicPr>
            <a:picLocks noChangeAspect="1"/>
          </p:cNvPicPr>
          <p:nvPr/>
        </p:nvPicPr>
        <p:blipFill>
          <a:blip r:embed="rId4"/>
          <a:stretch>
            <a:fillRect/>
          </a:stretch>
        </p:blipFill>
        <p:spPr>
          <a:xfrm>
            <a:off x="6009442" y="5629632"/>
            <a:ext cx="747236" cy="896779"/>
          </a:xfrm>
          <a:prstGeom prst="rect">
            <a:avLst/>
          </a:prstGeom>
        </p:spPr>
      </p:pic>
      <p:sp>
        <p:nvSpPr>
          <p:cNvPr id="15" name="Text 9"/>
          <p:cNvSpPr/>
          <p:nvPr/>
        </p:nvSpPr>
        <p:spPr>
          <a:xfrm>
            <a:off x="6855143" y="5779056"/>
            <a:ext cx="1868210" cy="233482"/>
          </a:xfrm>
          <a:prstGeom prst="rect">
            <a:avLst/>
          </a:prstGeom>
          <a:noFill/>
          <a:ln/>
        </p:spPr>
        <p:txBody>
          <a:bodyPr wrap="none" lIns="0" tIns="0" rIns="0" bIns="0" rtlCol="0" anchor="t"/>
          <a:lstStyle/>
          <a:p>
            <a:pPr algn="l" indent="0" marL="0">
              <a:lnSpc>
                <a:spcPts val="1800"/>
              </a:lnSpc>
              <a:buNone/>
            </a:pPr>
            <a:r>
              <a:rPr lang="en-US" sz="1450" dirty="0">
                <a:solidFill>
                  <a:srgbClr val="2C2821"/>
                </a:solidFill>
                <a:latin typeface="Alice" pitchFamily="34" charset="0"/>
                <a:ea typeface="Alice" pitchFamily="34" charset="-122"/>
                <a:cs typeface="Alice" pitchFamily="34" charset="-120"/>
              </a:rPr>
              <a:t>Re-conduction</a:t>
            </a:r>
            <a:endParaRPr lang="en-US" sz="1450" dirty="0"/>
          </a:p>
        </p:txBody>
      </p:sp>
      <p:sp>
        <p:nvSpPr>
          <p:cNvPr id="16" name="Text 10"/>
          <p:cNvSpPr/>
          <p:nvPr/>
        </p:nvSpPr>
        <p:spPr>
          <a:xfrm>
            <a:off x="6855143" y="6071592"/>
            <a:ext cx="7252216" cy="198239"/>
          </a:xfrm>
          <a:prstGeom prst="rect">
            <a:avLst/>
          </a:prstGeom>
          <a:noFill/>
          <a:ln/>
        </p:spPr>
        <p:txBody>
          <a:bodyPr wrap="none" lIns="0" tIns="0" rIns="0" bIns="0" rtlCol="0" anchor="t"/>
          <a:lstStyle/>
          <a:p>
            <a:pPr algn="l" indent="0" marL="0">
              <a:lnSpc>
                <a:spcPts val="1550"/>
              </a:lnSpc>
              <a:buNone/>
            </a:pPr>
            <a:r>
              <a:rPr lang="en-US" sz="1150" dirty="0">
                <a:solidFill>
                  <a:srgbClr val="2C2821"/>
                </a:solidFill>
                <a:latin typeface="Lora" pitchFamily="34" charset="0"/>
                <a:ea typeface="Lora" pitchFamily="34" charset="-122"/>
                <a:cs typeface="Lora" pitchFamily="34" charset="-120"/>
              </a:rPr>
              <a:t>Fresh elections conducted to ensure genuine democratic mandate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547807" y="948095"/>
            <a:ext cx="5061942" cy="489109"/>
          </a:xfrm>
          <a:prstGeom prst="rect">
            <a:avLst/>
          </a:prstGeom>
          <a:noFill/>
          <a:ln/>
        </p:spPr>
        <p:txBody>
          <a:bodyPr wrap="none" lIns="0" tIns="0" rIns="0" bIns="0" rtlCol="0" anchor="t"/>
          <a:lstStyle/>
          <a:p>
            <a:pPr algn="l" indent="0" marL="0">
              <a:lnSpc>
                <a:spcPts val="3850"/>
              </a:lnSpc>
              <a:buNone/>
            </a:pPr>
            <a:r>
              <a:rPr lang="en-US" sz="3050" dirty="0">
                <a:solidFill>
                  <a:srgbClr val="233E32"/>
                </a:solidFill>
                <a:latin typeface="Alice" pitchFamily="34" charset="0"/>
                <a:ea typeface="Alice" pitchFamily="34" charset="-122"/>
                <a:cs typeface="Alice" pitchFamily="34" charset="-120"/>
              </a:rPr>
              <a:t>Citizens: The True Guardians</a:t>
            </a:r>
            <a:endParaRPr lang="en-US" sz="30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7807" y="1599128"/>
            <a:ext cx="391239" cy="391239"/>
          </a:xfrm>
          <a:prstGeom prst="rect">
            <a:avLst/>
          </a:prstGeom>
        </p:spPr>
      </p:pic>
      <p:sp>
        <p:nvSpPr>
          <p:cNvPr id="5" name="Text 1"/>
          <p:cNvSpPr/>
          <p:nvPr/>
        </p:nvSpPr>
        <p:spPr>
          <a:xfrm>
            <a:off x="547807" y="2125385"/>
            <a:ext cx="1956554" cy="244435"/>
          </a:xfrm>
          <a:prstGeom prst="rect">
            <a:avLst/>
          </a:prstGeom>
          <a:noFill/>
          <a:ln/>
        </p:spPr>
        <p:txBody>
          <a:bodyPr wrap="none" lIns="0" tIns="0" rIns="0" bIns="0" rtlCol="0" anchor="t"/>
          <a:lstStyle/>
          <a:p>
            <a:pPr algn="l" indent="0" marL="0">
              <a:lnSpc>
                <a:spcPts val="1900"/>
              </a:lnSpc>
              <a:buNone/>
            </a:pPr>
            <a:r>
              <a:rPr lang="en-US" sz="1500" dirty="0">
                <a:solidFill>
                  <a:srgbClr val="2C2821"/>
                </a:solidFill>
                <a:latin typeface="Alice" pitchFamily="34" charset="0"/>
                <a:ea typeface="Alice" pitchFamily="34" charset="-122"/>
                <a:cs typeface="Alice" pitchFamily="34" charset="-120"/>
              </a:rPr>
              <a:t>Responsible Voting</a:t>
            </a:r>
            <a:endParaRPr lang="en-US" sz="1500" dirty="0"/>
          </a:p>
        </p:txBody>
      </p:sp>
      <p:sp>
        <p:nvSpPr>
          <p:cNvPr id="6" name="Text 2"/>
          <p:cNvSpPr/>
          <p:nvPr/>
        </p:nvSpPr>
        <p:spPr>
          <a:xfrm>
            <a:off x="547807" y="2434590"/>
            <a:ext cx="8048387" cy="423148"/>
          </a:xfrm>
          <a:prstGeom prst="rect">
            <a:avLst/>
          </a:prstGeom>
          <a:noFill/>
          <a:ln/>
        </p:spPr>
        <p:txBody>
          <a:bodyPr wrap="square" lIns="0" tIns="0" rIns="0" bIns="0" rtlCol="0" anchor="t"/>
          <a:lstStyle/>
          <a:p>
            <a:pPr algn="l" indent="0" marL="0">
              <a:lnSpc>
                <a:spcPts val="1650"/>
              </a:lnSpc>
              <a:buNone/>
            </a:pPr>
            <a:r>
              <a:rPr lang="en-US" sz="1200" dirty="0">
                <a:solidFill>
                  <a:srgbClr val="2C2821"/>
                </a:solidFill>
                <a:latin typeface="Lora" pitchFamily="34" charset="0"/>
                <a:ea typeface="Lora" pitchFamily="34" charset="-122"/>
                <a:cs typeface="Lora" pitchFamily="34" charset="-120"/>
              </a:rPr>
              <a:t>Exercise franchise judiciously, researching candidate backgrounds, policy positions, and track records before casting votes</a:t>
            </a:r>
            <a:endParaRPr lang="en-US" sz="12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7807" y="3073718"/>
            <a:ext cx="391239" cy="391239"/>
          </a:xfrm>
          <a:prstGeom prst="rect">
            <a:avLst/>
          </a:prstGeom>
        </p:spPr>
      </p:pic>
      <p:sp>
        <p:nvSpPr>
          <p:cNvPr id="8" name="Text 3"/>
          <p:cNvSpPr/>
          <p:nvPr/>
        </p:nvSpPr>
        <p:spPr>
          <a:xfrm>
            <a:off x="547807" y="3599974"/>
            <a:ext cx="1995368" cy="244435"/>
          </a:xfrm>
          <a:prstGeom prst="rect">
            <a:avLst/>
          </a:prstGeom>
          <a:noFill/>
          <a:ln/>
        </p:spPr>
        <p:txBody>
          <a:bodyPr wrap="none" lIns="0" tIns="0" rIns="0" bIns="0" rtlCol="0" anchor="t"/>
          <a:lstStyle/>
          <a:p>
            <a:pPr algn="l" indent="0" marL="0">
              <a:lnSpc>
                <a:spcPts val="1900"/>
              </a:lnSpc>
              <a:buNone/>
            </a:pPr>
            <a:r>
              <a:rPr lang="en-US" sz="1500" dirty="0">
                <a:solidFill>
                  <a:srgbClr val="2C2821"/>
                </a:solidFill>
                <a:latin typeface="Alice" pitchFamily="34" charset="0"/>
                <a:ea typeface="Alice" pitchFamily="34" charset="-122"/>
                <a:cs typeface="Alice" pitchFamily="34" charset="-120"/>
              </a:rPr>
              <a:t>Continuous Awareness</a:t>
            </a:r>
            <a:endParaRPr lang="en-US" sz="1500" dirty="0"/>
          </a:p>
        </p:txBody>
      </p:sp>
      <p:sp>
        <p:nvSpPr>
          <p:cNvPr id="9" name="Text 4"/>
          <p:cNvSpPr/>
          <p:nvPr/>
        </p:nvSpPr>
        <p:spPr>
          <a:xfrm>
            <a:off x="547807" y="3909179"/>
            <a:ext cx="8048387" cy="423148"/>
          </a:xfrm>
          <a:prstGeom prst="rect">
            <a:avLst/>
          </a:prstGeom>
          <a:noFill/>
          <a:ln/>
        </p:spPr>
        <p:txBody>
          <a:bodyPr wrap="square" lIns="0" tIns="0" rIns="0" bIns="0" rtlCol="0" anchor="t"/>
          <a:lstStyle/>
          <a:p>
            <a:pPr algn="l" indent="0" marL="0">
              <a:lnSpc>
                <a:spcPts val="1650"/>
              </a:lnSpc>
              <a:buNone/>
            </a:pPr>
            <a:r>
              <a:rPr lang="en-US" sz="1200" dirty="0">
                <a:solidFill>
                  <a:srgbClr val="2C2821"/>
                </a:solidFill>
                <a:latin typeface="Lora" pitchFamily="34" charset="0"/>
                <a:ea typeface="Lora" pitchFamily="34" charset="-122"/>
                <a:cs typeface="Lora" pitchFamily="34" charset="-120"/>
              </a:rPr>
              <a:t>Stay informed through credible sources, verify facts, challenge misinformation, and educate family and community members</a:t>
            </a:r>
            <a:endParaRPr lang="en-US" sz="12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7807" y="4548307"/>
            <a:ext cx="391239" cy="391239"/>
          </a:xfrm>
          <a:prstGeom prst="rect">
            <a:avLst/>
          </a:prstGeom>
        </p:spPr>
      </p:pic>
      <p:sp>
        <p:nvSpPr>
          <p:cNvPr id="11" name="Text 5"/>
          <p:cNvSpPr/>
          <p:nvPr/>
        </p:nvSpPr>
        <p:spPr>
          <a:xfrm>
            <a:off x="547807" y="5074563"/>
            <a:ext cx="1956554" cy="244435"/>
          </a:xfrm>
          <a:prstGeom prst="rect">
            <a:avLst/>
          </a:prstGeom>
          <a:noFill/>
          <a:ln/>
        </p:spPr>
        <p:txBody>
          <a:bodyPr wrap="none" lIns="0" tIns="0" rIns="0" bIns="0" rtlCol="0" anchor="t"/>
          <a:lstStyle/>
          <a:p>
            <a:pPr algn="l" indent="0" marL="0">
              <a:lnSpc>
                <a:spcPts val="1900"/>
              </a:lnSpc>
              <a:buNone/>
            </a:pPr>
            <a:r>
              <a:rPr lang="en-US" sz="1500" dirty="0">
                <a:solidFill>
                  <a:srgbClr val="2C2821"/>
                </a:solidFill>
                <a:latin typeface="Alice" pitchFamily="34" charset="0"/>
                <a:ea typeface="Alice" pitchFamily="34" charset="-122"/>
                <a:cs typeface="Alice" pitchFamily="34" charset="-120"/>
              </a:rPr>
              <a:t>Reject Corruption</a:t>
            </a:r>
            <a:endParaRPr lang="en-US" sz="1500" dirty="0"/>
          </a:p>
        </p:txBody>
      </p:sp>
      <p:sp>
        <p:nvSpPr>
          <p:cNvPr id="12" name="Text 6"/>
          <p:cNvSpPr/>
          <p:nvPr/>
        </p:nvSpPr>
        <p:spPr>
          <a:xfrm>
            <a:off x="547807" y="5383768"/>
            <a:ext cx="8048387" cy="423148"/>
          </a:xfrm>
          <a:prstGeom prst="rect">
            <a:avLst/>
          </a:prstGeom>
          <a:noFill/>
          <a:ln/>
        </p:spPr>
        <p:txBody>
          <a:bodyPr wrap="square" lIns="0" tIns="0" rIns="0" bIns="0" rtlCol="0" anchor="t"/>
          <a:lstStyle/>
          <a:p>
            <a:pPr algn="l" indent="0" marL="0">
              <a:lnSpc>
                <a:spcPts val="1650"/>
              </a:lnSpc>
              <a:buNone/>
            </a:pPr>
            <a:r>
              <a:rPr lang="en-US" sz="1200" dirty="0">
                <a:solidFill>
                  <a:srgbClr val="2C2821"/>
                </a:solidFill>
                <a:latin typeface="Lora" pitchFamily="34" charset="0"/>
                <a:ea typeface="Lora" pitchFamily="34" charset="-122"/>
                <a:cs typeface="Lora" pitchFamily="34" charset="-120"/>
              </a:rPr>
              <a:t>Vote against candidates with criminal charges, oppose unethical practices, and demand accountability from elected representatives</a:t>
            </a:r>
            <a:endParaRPr lang="en-US" sz="12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47807" y="6022896"/>
            <a:ext cx="391239" cy="391239"/>
          </a:xfrm>
          <a:prstGeom prst="rect">
            <a:avLst/>
          </a:prstGeom>
        </p:spPr>
      </p:pic>
      <p:sp>
        <p:nvSpPr>
          <p:cNvPr id="14" name="Text 7"/>
          <p:cNvSpPr/>
          <p:nvPr/>
        </p:nvSpPr>
        <p:spPr>
          <a:xfrm>
            <a:off x="547807" y="6549152"/>
            <a:ext cx="1956554" cy="244435"/>
          </a:xfrm>
          <a:prstGeom prst="rect">
            <a:avLst/>
          </a:prstGeom>
          <a:noFill/>
          <a:ln/>
        </p:spPr>
        <p:txBody>
          <a:bodyPr wrap="none" lIns="0" tIns="0" rIns="0" bIns="0" rtlCol="0" anchor="t"/>
          <a:lstStyle/>
          <a:p>
            <a:pPr algn="l" indent="0" marL="0">
              <a:lnSpc>
                <a:spcPts val="1900"/>
              </a:lnSpc>
              <a:buNone/>
            </a:pPr>
            <a:r>
              <a:rPr lang="en-US" sz="1500" dirty="0">
                <a:solidFill>
                  <a:srgbClr val="2C2821"/>
                </a:solidFill>
                <a:latin typeface="Alice" pitchFamily="34" charset="0"/>
                <a:ea typeface="Alice" pitchFamily="34" charset="-122"/>
                <a:cs typeface="Alice" pitchFamily="34" charset="-120"/>
              </a:rPr>
              <a:t>Active Participation</a:t>
            </a:r>
            <a:endParaRPr lang="en-US" sz="1500" dirty="0"/>
          </a:p>
        </p:txBody>
      </p:sp>
      <p:sp>
        <p:nvSpPr>
          <p:cNvPr id="15" name="Text 8"/>
          <p:cNvSpPr/>
          <p:nvPr/>
        </p:nvSpPr>
        <p:spPr>
          <a:xfrm>
            <a:off x="547807" y="6858357"/>
            <a:ext cx="8048387" cy="423148"/>
          </a:xfrm>
          <a:prstGeom prst="rect">
            <a:avLst/>
          </a:prstGeom>
          <a:noFill/>
          <a:ln/>
        </p:spPr>
        <p:txBody>
          <a:bodyPr wrap="square" lIns="0" tIns="0" rIns="0" bIns="0" rtlCol="0" anchor="t"/>
          <a:lstStyle/>
          <a:p>
            <a:pPr algn="l" indent="0" marL="0">
              <a:lnSpc>
                <a:spcPts val="1650"/>
              </a:lnSpc>
              <a:buNone/>
            </a:pPr>
            <a:r>
              <a:rPr lang="en-US" sz="1200" dirty="0">
                <a:solidFill>
                  <a:srgbClr val="2C2821"/>
                </a:solidFill>
                <a:latin typeface="Lora" pitchFamily="34" charset="0"/>
                <a:ea typeface="Lora" pitchFamily="34" charset="-122"/>
                <a:cs typeface="Lora" pitchFamily="34" charset="-120"/>
              </a:rPr>
              <a:t>Engage in democratic discourse, join electoral reform movements, petition authorities, and hold institutions accountable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0094" y="639842"/>
            <a:ext cx="8679894" cy="669727"/>
          </a:xfrm>
          <a:prstGeom prst="rect">
            <a:avLst/>
          </a:prstGeom>
          <a:noFill/>
          <a:ln/>
        </p:spPr>
        <p:txBody>
          <a:bodyPr wrap="none" lIns="0" tIns="0" rIns="0" bIns="0" rtlCol="0" anchor="t"/>
          <a:lstStyle/>
          <a:p>
            <a:pPr algn="l" indent="0" marL="0">
              <a:lnSpc>
                <a:spcPts val="5250"/>
              </a:lnSpc>
              <a:buNone/>
            </a:pPr>
            <a:r>
              <a:rPr lang="en-US" sz="4200" dirty="0">
                <a:solidFill>
                  <a:srgbClr val="233E32"/>
                </a:solidFill>
                <a:latin typeface="Alice" pitchFamily="34" charset="0"/>
                <a:ea typeface="Alice" pitchFamily="34" charset="-122"/>
                <a:cs typeface="Alice" pitchFamily="34" charset="-120"/>
              </a:rPr>
              <a:t>Progress Made: Celebrating Reforms</a:t>
            </a:r>
            <a:endParaRPr lang="en-US" sz="4200" dirty="0"/>
          </a:p>
        </p:txBody>
      </p:sp>
      <p:sp>
        <p:nvSpPr>
          <p:cNvPr id="3" name="Text 1"/>
          <p:cNvSpPr/>
          <p:nvPr/>
        </p:nvSpPr>
        <p:spPr>
          <a:xfrm>
            <a:off x="1535906" y="3107531"/>
            <a:ext cx="2636044" cy="535781"/>
          </a:xfrm>
          <a:prstGeom prst="rect">
            <a:avLst/>
          </a:prstGeom>
          <a:noFill/>
          <a:ln/>
        </p:spPr>
        <p:txBody>
          <a:bodyPr wrap="none" lIns="0" tIns="0" rIns="0" bIns="0" rtlCol="0" anchor="t"/>
          <a:lstStyle/>
          <a:p>
            <a:pPr algn="ctr" indent="0" marL="0">
              <a:lnSpc>
                <a:spcPts val="4200"/>
              </a:lnSpc>
              <a:buNone/>
            </a:pPr>
            <a:r>
              <a:rPr lang="en-US" sz="4200" dirty="0">
                <a:solidFill>
                  <a:srgbClr val="2C2821"/>
                </a:solidFill>
                <a:latin typeface="Alice" pitchFamily="34" charset="0"/>
                <a:ea typeface="Alice" pitchFamily="34" charset="-122"/>
                <a:cs typeface="Alice" pitchFamily="34" charset="-120"/>
              </a:rPr>
              <a:t>100%</a:t>
            </a:r>
            <a:endParaRPr lang="en-US" sz="4200" dirty="0"/>
          </a:p>
        </p:txBody>
      </p:sp>
      <p:pic>
        <p:nvPicPr>
          <p:cNvPr id="4" name="Image 0" descr="preencoded.png">    </p:cNvPr>
          <p:cNvPicPr>
            <a:picLocks noChangeAspect="1"/>
          </p:cNvPicPr>
          <p:nvPr/>
        </p:nvPicPr>
        <p:blipFill>
          <a:blip r:embed="rId1"/>
          <a:stretch>
            <a:fillRect/>
          </a:stretch>
        </p:blipFill>
        <p:spPr>
          <a:xfrm>
            <a:off x="1246584" y="1768078"/>
            <a:ext cx="3214807" cy="3214807"/>
          </a:xfrm>
          <a:prstGeom prst="rect">
            <a:avLst/>
          </a:prstGeom>
        </p:spPr>
      </p:pic>
      <p:sp>
        <p:nvSpPr>
          <p:cNvPr id="5" name="Text 2"/>
          <p:cNvSpPr/>
          <p:nvPr/>
        </p:nvSpPr>
        <p:spPr>
          <a:xfrm>
            <a:off x="1514475" y="5238869"/>
            <a:ext cx="2679025" cy="334804"/>
          </a:xfrm>
          <a:prstGeom prst="rect">
            <a:avLst/>
          </a:prstGeom>
          <a:noFill/>
          <a:ln/>
        </p:spPr>
        <p:txBody>
          <a:bodyPr wrap="none" lIns="0" tIns="0" rIns="0" bIns="0" rtlCol="0" anchor="t"/>
          <a:lstStyle/>
          <a:p>
            <a:pPr algn="ctr" indent="0" marL="0">
              <a:lnSpc>
                <a:spcPts val="2600"/>
              </a:lnSpc>
              <a:buNone/>
            </a:pPr>
            <a:r>
              <a:rPr lang="en-US" sz="2100" dirty="0">
                <a:solidFill>
                  <a:srgbClr val="2C2821"/>
                </a:solidFill>
                <a:latin typeface="Alice" pitchFamily="34" charset="0"/>
                <a:ea typeface="Alice" pitchFamily="34" charset="-122"/>
                <a:cs typeface="Alice" pitchFamily="34" charset="-120"/>
              </a:rPr>
              <a:t>EVM Coverage</a:t>
            </a:r>
            <a:endParaRPr lang="en-US" sz="2100" dirty="0"/>
          </a:p>
        </p:txBody>
      </p:sp>
      <p:sp>
        <p:nvSpPr>
          <p:cNvPr id="6" name="Text 3"/>
          <p:cNvSpPr/>
          <p:nvPr/>
        </p:nvSpPr>
        <p:spPr>
          <a:xfrm>
            <a:off x="750094" y="5695117"/>
            <a:ext cx="4207907" cy="1000125"/>
          </a:xfrm>
          <a:prstGeom prst="rect">
            <a:avLst/>
          </a:prstGeom>
          <a:noFill/>
          <a:ln/>
        </p:spPr>
        <p:txBody>
          <a:bodyPr wrap="square" lIns="0" tIns="0" rIns="0" bIns="0" rtlCol="0" anchor="t"/>
          <a:lstStyle/>
          <a:p>
            <a:pPr algn="ctr" indent="0" marL="0">
              <a:lnSpc>
                <a:spcPts val="2600"/>
              </a:lnSpc>
              <a:buNone/>
            </a:pPr>
            <a:r>
              <a:rPr lang="en-US" sz="1650" dirty="0">
                <a:solidFill>
                  <a:srgbClr val="2C2821"/>
                </a:solidFill>
                <a:latin typeface="Lora" pitchFamily="34" charset="0"/>
                <a:ea typeface="Lora" pitchFamily="34" charset="-122"/>
                <a:cs typeface="Lora" pitchFamily="34" charset="-120"/>
              </a:rPr>
              <a:t>Electronic Voting Machines deployed across all polling stations since 2019 general elections</a:t>
            </a:r>
            <a:endParaRPr lang="en-US" sz="1650" dirty="0"/>
          </a:p>
        </p:txBody>
      </p:sp>
      <p:sp>
        <p:nvSpPr>
          <p:cNvPr id="7" name="Text 4"/>
          <p:cNvSpPr/>
          <p:nvPr/>
        </p:nvSpPr>
        <p:spPr>
          <a:xfrm>
            <a:off x="5997059" y="3107531"/>
            <a:ext cx="2636044" cy="535781"/>
          </a:xfrm>
          <a:prstGeom prst="rect">
            <a:avLst/>
          </a:prstGeom>
          <a:noFill/>
          <a:ln/>
        </p:spPr>
        <p:txBody>
          <a:bodyPr wrap="none" lIns="0" tIns="0" rIns="0" bIns="0" rtlCol="0" anchor="t"/>
          <a:lstStyle/>
          <a:p>
            <a:pPr algn="ctr" indent="0" marL="0">
              <a:lnSpc>
                <a:spcPts val="4200"/>
              </a:lnSpc>
              <a:buNone/>
            </a:pPr>
            <a:r>
              <a:rPr lang="en-US" sz="4200" dirty="0">
                <a:solidFill>
                  <a:srgbClr val="2C2821"/>
                </a:solidFill>
                <a:latin typeface="Alice" pitchFamily="34" charset="0"/>
                <a:ea typeface="Alice" pitchFamily="34" charset="-122"/>
                <a:cs typeface="Alice" pitchFamily="34" charset="-120"/>
              </a:rPr>
              <a:t>100%</a:t>
            </a:r>
            <a:endParaRPr lang="en-US" sz="4200" dirty="0"/>
          </a:p>
        </p:txBody>
      </p:sp>
      <p:pic>
        <p:nvPicPr>
          <p:cNvPr id="8" name="Image 1" descr="preencoded.png">    </p:cNvPr>
          <p:cNvPicPr>
            <a:picLocks noChangeAspect="1"/>
          </p:cNvPicPr>
          <p:nvPr/>
        </p:nvPicPr>
        <p:blipFill>
          <a:blip r:embed="rId2"/>
          <a:stretch>
            <a:fillRect/>
          </a:stretch>
        </p:blipFill>
        <p:spPr>
          <a:xfrm>
            <a:off x="5707737" y="1768078"/>
            <a:ext cx="3214807" cy="3214807"/>
          </a:xfrm>
          <a:prstGeom prst="rect">
            <a:avLst/>
          </a:prstGeom>
        </p:spPr>
      </p:pic>
      <p:sp>
        <p:nvSpPr>
          <p:cNvPr id="9" name="Text 5"/>
          <p:cNvSpPr/>
          <p:nvPr/>
        </p:nvSpPr>
        <p:spPr>
          <a:xfrm>
            <a:off x="5975628" y="5238869"/>
            <a:ext cx="2679025" cy="334804"/>
          </a:xfrm>
          <a:prstGeom prst="rect">
            <a:avLst/>
          </a:prstGeom>
          <a:noFill/>
          <a:ln/>
        </p:spPr>
        <p:txBody>
          <a:bodyPr wrap="none" lIns="0" tIns="0" rIns="0" bIns="0" rtlCol="0" anchor="t"/>
          <a:lstStyle/>
          <a:p>
            <a:pPr algn="ctr" indent="0" marL="0">
              <a:lnSpc>
                <a:spcPts val="2600"/>
              </a:lnSpc>
              <a:buNone/>
            </a:pPr>
            <a:r>
              <a:rPr lang="en-US" sz="2100" dirty="0">
                <a:solidFill>
                  <a:srgbClr val="2C2821"/>
                </a:solidFill>
                <a:latin typeface="Alice" pitchFamily="34" charset="0"/>
                <a:ea typeface="Alice" pitchFamily="34" charset="-122"/>
                <a:cs typeface="Alice" pitchFamily="34" charset="-120"/>
              </a:rPr>
              <a:t>VVPAT Integration</a:t>
            </a:r>
            <a:endParaRPr lang="en-US" sz="2100" dirty="0"/>
          </a:p>
        </p:txBody>
      </p:sp>
      <p:sp>
        <p:nvSpPr>
          <p:cNvPr id="10" name="Text 6"/>
          <p:cNvSpPr/>
          <p:nvPr/>
        </p:nvSpPr>
        <p:spPr>
          <a:xfrm>
            <a:off x="5211128" y="5695117"/>
            <a:ext cx="4208026" cy="1000125"/>
          </a:xfrm>
          <a:prstGeom prst="rect">
            <a:avLst/>
          </a:prstGeom>
          <a:noFill/>
          <a:ln/>
        </p:spPr>
        <p:txBody>
          <a:bodyPr wrap="square" lIns="0" tIns="0" rIns="0" bIns="0" rtlCol="0" anchor="t"/>
          <a:lstStyle/>
          <a:p>
            <a:pPr algn="ctr" indent="0" marL="0">
              <a:lnSpc>
                <a:spcPts val="2600"/>
              </a:lnSpc>
              <a:buNone/>
            </a:pPr>
            <a:r>
              <a:rPr lang="en-US" sz="1650" dirty="0">
                <a:solidFill>
                  <a:srgbClr val="2C2821"/>
                </a:solidFill>
                <a:latin typeface="Lora" pitchFamily="34" charset="0"/>
                <a:ea typeface="Lora" pitchFamily="34" charset="-122"/>
                <a:cs typeface="Lora" pitchFamily="34" charset="-120"/>
              </a:rPr>
              <a:t>Physical verification system linked with EVMs, enabling audit trail for every vote cast</a:t>
            </a:r>
            <a:endParaRPr lang="en-US" sz="1650" dirty="0"/>
          </a:p>
        </p:txBody>
      </p:sp>
      <p:sp>
        <p:nvSpPr>
          <p:cNvPr id="11" name="Text 7"/>
          <p:cNvSpPr/>
          <p:nvPr/>
        </p:nvSpPr>
        <p:spPr>
          <a:xfrm>
            <a:off x="10458212" y="3107531"/>
            <a:ext cx="2636044" cy="535781"/>
          </a:xfrm>
          <a:prstGeom prst="rect">
            <a:avLst/>
          </a:prstGeom>
          <a:noFill/>
          <a:ln/>
        </p:spPr>
        <p:txBody>
          <a:bodyPr wrap="none" lIns="0" tIns="0" rIns="0" bIns="0" rtlCol="0" anchor="t"/>
          <a:lstStyle/>
          <a:p>
            <a:pPr algn="ctr" indent="0" marL="0">
              <a:lnSpc>
                <a:spcPts val="4200"/>
              </a:lnSpc>
              <a:buNone/>
            </a:pPr>
            <a:r>
              <a:rPr lang="en-US" sz="4200" dirty="0">
                <a:solidFill>
                  <a:srgbClr val="2C2821"/>
                </a:solidFill>
                <a:latin typeface="Alice" pitchFamily="34" charset="0"/>
                <a:ea typeface="Alice" pitchFamily="34" charset="-122"/>
                <a:cs typeface="Alice" pitchFamily="34" charset="-120"/>
              </a:rPr>
              <a:t>100%</a:t>
            </a:r>
            <a:endParaRPr lang="en-US" sz="4200" dirty="0"/>
          </a:p>
        </p:txBody>
      </p:sp>
      <p:pic>
        <p:nvPicPr>
          <p:cNvPr id="12" name="Image 2" descr="preencoded.png">    </p:cNvPr>
          <p:cNvPicPr>
            <a:picLocks noChangeAspect="1"/>
          </p:cNvPicPr>
          <p:nvPr/>
        </p:nvPicPr>
        <p:blipFill>
          <a:blip r:embed="rId3"/>
          <a:stretch>
            <a:fillRect/>
          </a:stretch>
        </p:blipFill>
        <p:spPr>
          <a:xfrm>
            <a:off x="10168890" y="1768078"/>
            <a:ext cx="3214807" cy="3214807"/>
          </a:xfrm>
          <a:prstGeom prst="rect">
            <a:avLst/>
          </a:prstGeom>
        </p:spPr>
      </p:pic>
      <p:sp>
        <p:nvSpPr>
          <p:cNvPr id="13" name="Text 8"/>
          <p:cNvSpPr/>
          <p:nvPr/>
        </p:nvSpPr>
        <p:spPr>
          <a:xfrm>
            <a:off x="10436781" y="5238869"/>
            <a:ext cx="2679025" cy="334804"/>
          </a:xfrm>
          <a:prstGeom prst="rect">
            <a:avLst/>
          </a:prstGeom>
          <a:noFill/>
          <a:ln/>
        </p:spPr>
        <p:txBody>
          <a:bodyPr wrap="none" lIns="0" tIns="0" rIns="0" bIns="0" rtlCol="0" anchor="t"/>
          <a:lstStyle/>
          <a:p>
            <a:pPr algn="ctr" indent="0" marL="0">
              <a:lnSpc>
                <a:spcPts val="2600"/>
              </a:lnSpc>
              <a:buNone/>
            </a:pPr>
            <a:r>
              <a:rPr lang="en-US" sz="2100" dirty="0">
                <a:solidFill>
                  <a:srgbClr val="2C2821"/>
                </a:solidFill>
                <a:latin typeface="Alice" pitchFamily="34" charset="0"/>
                <a:ea typeface="Alice" pitchFamily="34" charset="-122"/>
                <a:cs typeface="Alice" pitchFamily="34" charset="-120"/>
              </a:rPr>
              <a:t>NOTA Availability</a:t>
            </a:r>
            <a:endParaRPr lang="en-US" sz="2100" dirty="0"/>
          </a:p>
        </p:txBody>
      </p:sp>
      <p:sp>
        <p:nvSpPr>
          <p:cNvPr id="14" name="Text 9"/>
          <p:cNvSpPr/>
          <p:nvPr/>
        </p:nvSpPr>
        <p:spPr>
          <a:xfrm>
            <a:off x="9672280" y="5695117"/>
            <a:ext cx="4208026" cy="1000125"/>
          </a:xfrm>
          <a:prstGeom prst="rect">
            <a:avLst/>
          </a:prstGeom>
          <a:noFill/>
          <a:ln/>
        </p:spPr>
        <p:txBody>
          <a:bodyPr wrap="square" lIns="0" tIns="0" rIns="0" bIns="0" rtlCol="0" anchor="t"/>
          <a:lstStyle/>
          <a:p>
            <a:pPr algn="ctr" indent="0" marL="0">
              <a:lnSpc>
                <a:spcPts val="2600"/>
              </a:lnSpc>
              <a:buNone/>
            </a:pPr>
            <a:r>
              <a:rPr lang="en-US" sz="1650" dirty="0">
                <a:solidFill>
                  <a:srgbClr val="2C2821"/>
                </a:solidFill>
                <a:latin typeface="Lora" pitchFamily="34" charset="0"/>
                <a:ea typeface="Lora" pitchFamily="34" charset="-122"/>
                <a:cs typeface="Lora" pitchFamily="34" charset="-120"/>
              </a:rPr>
              <a:t>Negative voting option operational in all elections, empowering voter choice to reject</a:t>
            </a:r>
            <a:endParaRPr lang="en-US" sz="1650" dirty="0"/>
          </a:p>
        </p:txBody>
      </p:sp>
      <p:sp>
        <p:nvSpPr>
          <p:cNvPr id="15" name="Text 10"/>
          <p:cNvSpPr/>
          <p:nvPr/>
        </p:nvSpPr>
        <p:spPr>
          <a:xfrm>
            <a:off x="750094" y="6923008"/>
            <a:ext cx="13130213" cy="666750"/>
          </a:xfrm>
          <a:prstGeom prst="rect">
            <a:avLst/>
          </a:prstGeom>
          <a:noFill/>
          <a:ln/>
        </p:spPr>
        <p:txBody>
          <a:bodyPr wrap="square" lIns="0" tIns="0" rIns="0" bIns="0" rtlCol="0" anchor="t"/>
          <a:lstStyle/>
          <a:p>
            <a:pPr algn="l" indent="0" marL="0">
              <a:lnSpc>
                <a:spcPts val="2600"/>
              </a:lnSpc>
              <a:buNone/>
            </a:pPr>
            <a:r>
              <a:rPr lang="en-US" sz="1650" dirty="0">
                <a:solidFill>
                  <a:srgbClr val="2C2821"/>
                </a:solidFill>
                <a:latin typeface="Lora" pitchFamily="34" charset="0"/>
                <a:ea typeface="Lora" pitchFamily="34" charset="-122"/>
                <a:cs typeface="Lora" pitchFamily="34" charset="-120"/>
              </a:rPr>
              <a:t>These milestones demonstrate India's commitment to electoral integrity, though much work remains in addressing corruption, money power, and criminalisation of politics.</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064925" y="1069538"/>
            <a:ext cx="7986951" cy="4132421"/>
          </a:xfrm>
          <a:prstGeom prst="rect">
            <a:avLst/>
          </a:prstGeom>
          <a:noFill/>
          <a:ln/>
        </p:spPr>
        <p:txBody>
          <a:bodyPr wrap="square" lIns="0" tIns="0" rIns="0" bIns="0" rtlCol="0" anchor="t"/>
          <a:lstStyle/>
          <a:p>
            <a:pPr algn="l" indent="0" marL="0">
              <a:lnSpc>
                <a:spcPts val="8100"/>
              </a:lnSpc>
              <a:buNone/>
            </a:pPr>
            <a:r>
              <a:rPr lang="en-US" sz="6500" dirty="0">
                <a:solidFill>
                  <a:srgbClr val="233E32"/>
                </a:solidFill>
                <a:latin typeface="Alice" pitchFamily="34" charset="0"/>
                <a:ea typeface="Alice" pitchFamily="34" charset="-122"/>
                <a:cs typeface="Alice" pitchFamily="34" charset="-120"/>
              </a:rPr>
              <a:t>Free and Fair Elections: Democracy's Foundation</a:t>
            </a:r>
            <a:endParaRPr lang="en-US" sz="6500" dirty="0"/>
          </a:p>
        </p:txBody>
      </p:sp>
      <p:sp>
        <p:nvSpPr>
          <p:cNvPr id="4" name="Text 1"/>
          <p:cNvSpPr/>
          <p:nvPr/>
        </p:nvSpPr>
        <p:spPr>
          <a:xfrm>
            <a:off x="6312813" y="5518071"/>
            <a:ext cx="7739062" cy="685443"/>
          </a:xfrm>
          <a:prstGeom prst="rect">
            <a:avLst/>
          </a:prstGeom>
          <a:noFill/>
          <a:ln/>
        </p:spPr>
        <p:txBody>
          <a:bodyPr wrap="square" lIns="0" tIns="0" rIns="0" bIns="0" rtlCol="0" anchor="t"/>
          <a:lstStyle/>
          <a:p>
            <a:pPr algn="l" indent="0" marL="0">
              <a:lnSpc>
                <a:spcPts val="1800"/>
              </a:lnSpc>
              <a:buNone/>
            </a:pPr>
            <a:r>
              <a:rPr lang="en-US" sz="1300" dirty="0">
                <a:solidFill>
                  <a:srgbClr val="2C2821"/>
                </a:solidFill>
                <a:latin typeface="Lora" pitchFamily="34" charset="0"/>
                <a:ea typeface="Lora" pitchFamily="34" charset="-122"/>
                <a:cs typeface="Lora" pitchFamily="34" charset="-120"/>
              </a:rPr>
              <a:t>Every vote cast in freedom, every voice heard without coercion, every candidate judged on merit—these are the pillars of genuine democracy. Electoral reforms aren't mere policy adjustments; they're the very safeguard ensuring India's democratic promise remains unbroken for generations to come.</a:t>
            </a:r>
            <a:endParaRPr lang="en-US" sz="1300" dirty="0"/>
          </a:p>
        </p:txBody>
      </p:sp>
      <p:sp>
        <p:nvSpPr>
          <p:cNvPr id="5" name="Shape 2"/>
          <p:cNvSpPr/>
          <p:nvPr/>
        </p:nvSpPr>
        <p:spPr>
          <a:xfrm>
            <a:off x="6064925" y="5382578"/>
            <a:ext cx="22860" cy="956429"/>
          </a:xfrm>
          <a:prstGeom prst="rect">
            <a:avLst/>
          </a:prstGeom>
          <a:solidFill>
            <a:srgbClr val="1B5F39"/>
          </a:solidFill>
          <a:ln/>
        </p:spPr>
      </p:sp>
      <p:sp>
        <p:nvSpPr>
          <p:cNvPr id="6" name="Text 3"/>
          <p:cNvSpPr/>
          <p:nvPr/>
        </p:nvSpPr>
        <p:spPr>
          <a:xfrm>
            <a:off x="6064925" y="6474500"/>
            <a:ext cx="7986951" cy="685443"/>
          </a:xfrm>
          <a:prstGeom prst="rect">
            <a:avLst/>
          </a:prstGeom>
          <a:noFill/>
          <a:ln/>
        </p:spPr>
        <p:txBody>
          <a:bodyPr wrap="square" lIns="0" tIns="0" rIns="0" bIns="0" rtlCol="0" anchor="t"/>
          <a:lstStyle/>
          <a:p>
            <a:pPr algn="l" indent="0" marL="0">
              <a:lnSpc>
                <a:spcPts val="1800"/>
              </a:lnSpc>
              <a:buNone/>
            </a:pPr>
            <a:r>
              <a:rPr lang="en-US" sz="1300" dirty="0">
                <a:solidFill>
                  <a:srgbClr val="2C2821"/>
                </a:solidFill>
                <a:latin typeface="Lora" pitchFamily="34" charset="0"/>
                <a:ea typeface="Lora" pitchFamily="34" charset="-122"/>
                <a:cs typeface="Lora" pitchFamily="34" charset="-120"/>
              </a:rPr>
              <a:t>Together, citizens and institutions must champion transparency, reject corruption, and protect the sanctity of the ballot. Our democracy's strength lies not in perfection, but in our collective will to continually improve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2026-03-30T19:12:10Z</dcterms:created>
  <dcterms:modified xsi:type="dcterms:W3CDTF">2026-03-30T19:12:10Z</dcterms:modified>
</cp:coreProperties>
</file>