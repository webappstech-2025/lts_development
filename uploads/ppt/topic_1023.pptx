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Political Parties &amp; the Model Code of Conduct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Understanding the framework that ensures fair and democratic elections in India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118373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Political Parties: The Foundation of Democracy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722721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Political parties are organized groups that contest elections to represent citizens' interests. They play a crucial role in shaping policies, mobilising voters, and forming governments.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741307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Each party must follow strict rules and regulations set by the Election Commission of India to maintain transparency and fairness in the democratic process.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6562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Party Recognition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69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Election Commission grants recognition to political parties based on their performance in elections. This recognition determines the party's status and privileges.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97868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412468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4311729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5031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State Party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522357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Recognised in a particular state based on electoral performance within that state's boundaries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3897868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412468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4311729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362" y="5031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National Party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5362" y="5522357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Recognised across India based on vote percentage and seats won in multiple states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096" y="605076"/>
            <a:ext cx="10279142" cy="687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Election Symbols: Identifying Your Choice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096" y="1719501"/>
            <a:ext cx="4185523" cy="4185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096" y="6118384"/>
            <a:ext cx="2750463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Official Allocation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70096" y="6590109"/>
            <a:ext cx="418552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Election Commission assigns unique symbols to each recognised party, ensuring easy identification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38" y="1719501"/>
            <a:ext cx="4185523" cy="41855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2438" y="6118384"/>
            <a:ext cx="2750463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Universal Recognition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22438" y="6590109"/>
            <a:ext cx="418552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Symbols help voters, especially those who cannot read, easily identify and select their preferred party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781" y="1719501"/>
            <a:ext cx="4185523" cy="41855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4781" y="6118384"/>
            <a:ext cx="2750463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Campaign Tool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74781" y="6590109"/>
            <a:ext cx="418552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Parties use their symbols extensively in campaigns, making them instantly recognisable to the electorate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96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Code of Conduct: The Rulebook for Fair Elections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77377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Model Code of Conduct (MCC) is a comprehensive set of guidelines established by the Election Commission to ensure free, fair, and peaceful elections. It comes into effect as soon as the election schedule is announced.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8413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political parties, candidates, and government officials must strictly adhere to these rules throughout the election period.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807006"/>
            <a:ext cx="976979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Rules of the Model Code of Conduct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70334" y="2251948"/>
            <a:ext cx="4220885" cy="2660452"/>
          </a:xfrm>
          <a:prstGeom prst="roundRect">
            <a:avLst>
              <a:gd name="adj" fmla="val 5499"/>
            </a:avLst>
          </a:prstGeom>
          <a:solidFill>
            <a:srgbClr val="FCFBF8"/>
          </a:solidFill>
          <a:ln/>
        </p:spPr>
      </p:sp>
      <p:sp>
        <p:nvSpPr>
          <p:cNvPr id="4" name="Shape 2"/>
          <p:cNvSpPr/>
          <p:nvPr/>
        </p:nvSpPr>
        <p:spPr>
          <a:xfrm>
            <a:off x="770334" y="2221468"/>
            <a:ext cx="4220885" cy="121920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5" name="Shape 3"/>
          <p:cNvSpPr/>
          <p:nvPr/>
        </p:nvSpPr>
        <p:spPr>
          <a:xfrm>
            <a:off x="2550616" y="1921907"/>
            <a:ext cx="660202" cy="660202"/>
          </a:xfrm>
          <a:prstGeom prst="roundRect">
            <a:avLst>
              <a:gd name="adj" fmla="val 138503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2748617" y="2086928"/>
            <a:ext cx="26408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20842" y="2802136"/>
            <a:ext cx="3631049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Religious or Caste Appeals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20842" y="3274100"/>
            <a:ext cx="3719870" cy="1387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Candidates cannot use religion, caste, or community to influence voters or make appeals based on these identities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04698" y="2251948"/>
            <a:ext cx="4220885" cy="2660452"/>
          </a:xfrm>
          <a:prstGeom prst="roundRect">
            <a:avLst>
              <a:gd name="adj" fmla="val 5499"/>
            </a:avLst>
          </a:prstGeom>
          <a:solidFill>
            <a:srgbClr val="FCFB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04698" y="2221468"/>
            <a:ext cx="4220885" cy="121920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4980" y="1921907"/>
            <a:ext cx="660202" cy="660202"/>
          </a:xfrm>
          <a:prstGeom prst="roundRect">
            <a:avLst>
              <a:gd name="adj" fmla="val 138503"/>
            </a:avLst>
          </a:prstGeom>
          <a:solidFill>
            <a:srgbClr val="1B5F39"/>
          </a:solidFill>
          <a:ln/>
        </p:spPr>
      </p:sp>
      <p:sp>
        <p:nvSpPr>
          <p:cNvPr id="12" name="Text 10"/>
          <p:cNvSpPr/>
          <p:nvPr/>
        </p:nvSpPr>
        <p:spPr>
          <a:xfrm>
            <a:off x="7182981" y="2086928"/>
            <a:ext cx="26408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455206" y="2802136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Personal Attacks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455206" y="3274100"/>
            <a:ext cx="3719870" cy="1387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Political discourse must remain issue-based without resorting to character assassination or personal mudslinging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39062" y="2251948"/>
            <a:ext cx="4220885" cy="2660452"/>
          </a:xfrm>
          <a:prstGeom prst="roundRect">
            <a:avLst>
              <a:gd name="adj" fmla="val 5499"/>
            </a:avLst>
          </a:prstGeom>
          <a:solidFill>
            <a:srgbClr val="FCFB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062" y="2221468"/>
            <a:ext cx="4220885" cy="121920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19344" y="1921907"/>
            <a:ext cx="660202" cy="660202"/>
          </a:xfrm>
          <a:prstGeom prst="roundRect">
            <a:avLst>
              <a:gd name="adj" fmla="val 138503"/>
            </a:avLst>
          </a:prstGeom>
          <a:solidFill>
            <a:srgbClr val="1B5F39"/>
          </a:solidFill>
          <a:ln/>
        </p:spPr>
      </p:sp>
      <p:sp>
        <p:nvSpPr>
          <p:cNvPr id="18" name="Text 16"/>
          <p:cNvSpPr/>
          <p:nvPr/>
        </p:nvSpPr>
        <p:spPr>
          <a:xfrm>
            <a:off x="11617345" y="2086928"/>
            <a:ext cx="26408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9889569" y="2802136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Voter Bribing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889569" y="3274100"/>
            <a:ext cx="3719870" cy="104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is illegal to offer money, gifts, or any form of inducement to influence a voter's decision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0334" y="5455920"/>
            <a:ext cx="6438067" cy="1966555"/>
          </a:xfrm>
          <a:prstGeom prst="roundRect">
            <a:avLst>
              <a:gd name="adj" fmla="val 7440"/>
            </a:avLst>
          </a:prstGeom>
          <a:solidFill>
            <a:srgbClr val="FCFB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0334" y="5425440"/>
            <a:ext cx="6438067" cy="121920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9207" y="5125879"/>
            <a:ext cx="660202" cy="660202"/>
          </a:xfrm>
          <a:prstGeom prst="roundRect">
            <a:avLst>
              <a:gd name="adj" fmla="val 138503"/>
            </a:avLst>
          </a:prstGeom>
          <a:solidFill>
            <a:srgbClr val="1B5F39"/>
          </a:solidFill>
          <a:ln/>
        </p:spPr>
      </p:sp>
      <p:sp>
        <p:nvSpPr>
          <p:cNvPr id="24" name="Text 22"/>
          <p:cNvSpPr/>
          <p:nvPr/>
        </p:nvSpPr>
        <p:spPr>
          <a:xfrm>
            <a:off x="3857208" y="5290899"/>
            <a:ext cx="26408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1020842" y="6006108"/>
            <a:ext cx="28744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Government Misuse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020842" y="6478072"/>
            <a:ext cx="5937052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Government resources and machinery cannot be used for campaign purposes during elections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421880" y="5455920"/>
            <a:ext cx="6438067" cy="1966555"/>
          </a:xfrm>
          <a:prstGeom prst="roundRect">
            <a:avLst>
              <a:gd name="adj" fmla="val 7440"/>
            </a:avLst>
          </a:prstGeom>
          <a:solidFill>
            <a:srgbClr val="FCFB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1880" y="5425440"/>
            <a:ext cx="6438067" cy="121920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10753" y="5125879"/>
            <a:ext cx="660202" cy="660202"/>
          </a:xfrm>
          <a:prstGeom prst="roundRect">
            <a:avLst>
              <a:gd name="adj" fmla="val 138503"/>
            </a:avLst>
          </a:prstGeom>
          <a:solidFill>
            <a:srgbClr val="1B5F39"/>
          </a:solidFill>
          <a:ln/>
        </p:spPr>
      </p:sp>
      <p:sp>
        <p:nvSpPr>
          <p:cNvPr id="30" name="Text 28"/>
          <p:cNvSpPr/>
          <p:nvPr/>
        </p:nvSpPr>
        <p:spPr>
          <a:xfrm>
            <a:off x="10508754" y="5290899"/>
            <a:ext cx="26408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050" dirty="0"/>
          </a:p>
        </p:txBody>
      </p:sp>
      <p:sp>
        <p:nvSpPr>
          <p:cNvPr id="31" name="Text 29"/>
          <p:cNvSpPr/>
          <p:nvPr/>
        </p:nvSpPr>
        <p:spPr>
          <a:xfrm>
            <a:off x="7672388" y="6006108"/>
            <a:ext cx="359699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Restricted Area Campaigning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7672388" y="6478072"/>
            <a:ext cx="5937052" cy="69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Campaigning is prohibited in certain sensitive areas and must follow location-specific guidelines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25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Campaign Rules and Time Limits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67075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Time Management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202549"/>
            <a:ext cx="214955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Campaigning is allowed only during specified hours, typically from 6 AM to 10 PM, ensuring voters can focus on genuine issues.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504367" y="3267075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48-Hour Silence Period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04367" y="4202549"/>
            <a:ext cx="214955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campaigning is permitted 48 hours before polling begins, giving voters time to reflect without external pressure.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14943" y="3267075"/>
            <a:ext cx="214955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Sound Regulations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14943" y="4202549"/>
            <a:ext cx="214955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Loudspeakers and public address systems require permission and must follow decibel limits to avoid noise pollution.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102038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the Model Code of Conduct Matters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Fair Competition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Ensures all parties compete on equal terms without unfair advantages or misuse of resources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Prevents Power Abuse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Stops incumbent governments from misusing state machinery for electoral gains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Maintains Order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6364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Keeps political campaigns peaceful, issue-focused, and within legal boundaries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Builds Trust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6364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Increases voter confidence in the electoral process and its outcomes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088505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Enforcement and Compliance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629019"/>
            <a:ext cx="277689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Monitoring Mechanism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166229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Election Commission deploys observers and monitoring teams to ensure compliance with the MCC across all constituencies.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4035385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Complaint System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4572595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Voters and parties can file complaints against violations, which are promptly investigated by the Election Commission.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56" y="5441752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Penalties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56" y="5978962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Violations can result in warnings, campaign restrictions, or even disqualification of candidates in severe cases.</a:t>
            </a: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83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2071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878860" y="28632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898577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Political parties must follow Election Commission rules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74332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Recognition as state or national party depends on electoral performance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282071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7541955" y="28632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2898577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Election symbols help voters identify parties easily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Unique symbols assigned by Election Commission ensure universal recognition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878860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000625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Code of Conduct ensures fair elections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30906" y="584537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rules prevent misuse of religion, caste, government resources, and personal attacks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7541955" y="49652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000" y="5000625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Campaign time is limited with 48-hour silence period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94000" y="584537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Strict enforcement maintains discipline and fairness throughout elections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2026-03-30T19:05:27Z</dcterms:created>
  <dcterms:modified xsi:type="dcterms:W3CDTF">2026-03-30T19:05:27Z</dcterms:modified>
</cp:coreProperties>
</file>