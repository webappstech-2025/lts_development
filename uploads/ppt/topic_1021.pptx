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ice"/>
      <p:regular r:id="rId17"/>
    </p:embeddedFont>
    <p:embeddedFont>
      <p:font typeface="Alice"/>
      <p:regular r:id="rId18"/>
    </p:embeddedFont>
    <p:embeddedFont>
      <p:font typeface="Lora"/>
      <p:regular r:id="rId19"/>
    </p:embeddedFont>
    <p:embeddedFont>
      <p:font typeface="Lora"/>
      <p:regular r:id="rId20"/>
    </p:embeddedFont>
    <p:embeddedFont>
      <p:font typeface="Lora"/>
      <p:regular r:id="rId21"/>
    </p:embeddedFont>
    <p:embeddedFont>
      <p:font typeface="Lora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Understanding Elections: The Foundation of Democracy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Elections are the cornerstone of democratic governance, enabling citizens to choose their representatives and shape their nation's future.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43082"/>
            <a:ext cx="70418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Why Elections Are Essential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005489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7770" y="2419350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Large Population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20604" y="3629978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With over 1.4 billion citizens, India cannot practise direct democracy. Elections provide a practical solution.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8548" y="2005489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7655362" y="2232303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2528" y="2419350"/>
            <a:ext cx="306110" cy="3061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55362" y="31395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Representation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655362" y="3629978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Ensures every voice is heard through elected representatives who speak for their constituents.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93790" y="4809411"/>
            <a:ext cx="6407944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1020604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7770" y="5223272"/>
            <a:ext cx="306110" cy="3061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0604" y="5943481"/>
            <a:ext cx="297203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Government Formation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020604" y="6433899"/>
            <a:ext cx="59543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Creates stable governments at both national and state levels through democratic mandate.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8548" y="4809411"/>
            <a:ext cx="6408063" cy="2577108"/>
          </a:xfrm>
          <a:prstGeom prst="roundRect">
            <a:avLst>
              <a:gd name="adj" fmla="val 1320"/>
            </a:avLst>
          </a:prstGeom>
          <a:solidFill>
            <a:srgbClr val="F0EDE6"/>
          </a:solidFill>
          <a:ln/>
        </p:spPr>
      </p:sp>
      <p:sp>
        <p:nvSpPr>
          <p:cNvPr id="19" name="Shape 14"/>
          <p:cNvSpPr/>
          <p:nvPr/>
        </p:nvSpPr>
        <p:spPr>
          <a:xfrm>
            <a:off x="7655362" y="5036225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42528" y="5223272"/>
            <a:ext cx="306110" cy="3061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55362" y="59434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Accountability</a:t>
            </a:r>
            <a:endParaRPr lang="en-US" sz="2200" dirty="0"/>
          </a:p>
        </p:txBody>
      </p:sp>
      <p:sp>
        <p:nvSpPr>
          <p:cNvPr id="22" name="Text 16"/>
          <p:cNvSpPr/>
          <p:nvPr/>
        </p:nvSpPr>
        <p:spPr>
          <a:xfrm>
            <a:off x="7655362" y="6433899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Leaders remain answerable to citizens, facing re-election based on their performance.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738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India: The World's Largest Democracy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74487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968M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4776668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Eligible Voters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5267087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 968 million people eligible to vote in national elections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374487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1.4B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4776668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Total Population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5267087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World's most populous democracy since 2023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374487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28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4776668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5267087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State-level elections ensure regional representation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5430"/>
            <a:ext cx="67441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Core Democratic Concepts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97837"/>
            <a:ext cx="4196358" cy="3996214"/>
          </a:xfrm>
          <a:prstGeom prst="roundRect">
            <a:avLst>
              <a:gd name="adj" fmla="val 851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728317"/>
            <a:ext cx="4135398" cy="68044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285583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63557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Democracy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051084" y="4196953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Government of the people, by the people, and for the people. Citizens exercise power through voting and participation in political processes.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697837"/>
            <a:ext cx="4196358" cy="3996214"/>
          </a:xfrm>
          <a:prstGeom prst="roundRect">
            <a:avLst>
              <a:gd name="adj" fmla="val 851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47442" y="2728317"/>
            <a:ext cx="4135398" cy="68044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7145060" y="285583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474256" y="363557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Electorate</a:t>
            </a:r>
            <a:endParaRPr lang="en-US" sz="2650" dirty="0"/>
          </a:p>
        </p:txBody>
      </p:sp>
      <p:sp>
        <p:nvSpPr>
          <p:cNvPr id="12" name="Text 10"/>
          <p:cNvSpPr/>
          <p:nvPr/>
        </p:nvSpPr>
        <p:spPr>
          <a:xfrm>
            <a:off x="5474256" y="4196953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The entire body of eligible voters in a country or area. Every citizen who meets the voting age qualification forms part of the electorate.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2697837"/>
            <a:ext cx="4196358" cy="3996214"/>
          </a:xfrm>
          <a:prstGeom prst="roundRect">
            <a:avLst>
              <a:gd name="adj" fmla="val 851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70613" y="2728317"/>
            <a:ext cx="4135398" cy="68044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5" name="Text 13"/>
          <p:cNvSpPr/>
          <p:nvPr/>
        </p:nvSpPr>
        <p:spPr>
          <a:xfrm>
            <a:off x="11568232" y="2855833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9897427" y="3635573"/>
            <a:ext cx="3681770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Universal Adult Franchise</a:t>
            </a:r>
            <a:endParaRPr lang="en-US" sz="2650" dirty="0"/>
          </a:p>
        </p:txBody>
      </p:sp>
      <p:sp>
        <p:nvSpPr>
          <p:cNvPr id="17" name="Text 15"/>
          <p:cNvSpPr/>
          <p:nvPr/>
        </p:nvSpPr>
        <p:spPr>
          <a:xfrm>
            <a:off x="9897427" y="4622244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citizen aged 18 and above has the right to vote without discrimination based on caste, religion, gender, or economic status.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11104483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Universal Adult Franchise: Equal Voting Rights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9856" y="3137892"/>
            <a:ext cx="3213973" cy="40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Principles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49856" y="3741896"/>
            <a:ext cx="8351996" cy="154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citizen above 18 years can vote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No discrimination permitted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Equal value for every vote</a:t>
            </a:r>
            <a:endParaRPr lang="en-US" sz="1650" dirty="0"/>
          </a:p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Secret ballot ensures freedom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856" y="5470088"/>
            <a:ext cx="835199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This principle ensures that democracy truly represents all sections of society, regardless of their background or social status.</a:t>
            </a:r>
            <a:endParaRPr lang="en-US" sz="16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32156" y="1789986"/>
            <a:ext cx="4255889" cy="56745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1768"/>
            <a:ext cx="857726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How Elections Shape Government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974175"/>
            <a:ext cx="1134070" cy="1360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54674" y="220098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Citizens Vote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154674" y="2691408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Eligible voters cast their ballots for preferred candidates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335060"/>
            <a:ext cx="1134070" cy="1360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154674" y="35618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Results Declared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2154674" y="4052292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Votes are counted and winners are announced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695944"/>
            <a:ext cx="1134070" cy="13608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54674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Government Formed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2154674" y="5413177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Winning parties form government at central or state level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6056828"/>
            <a:ext cx="1134070" cy="13608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154674" y="62836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Peaceful Transfer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154674" y="6774061"/>
            <a:ext cx="1168193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Power transitions peacefully based on people's mandate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5268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Levels of Government Formation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210401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1B5F39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34372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Central Government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927634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Lok Sabha elections determine members of Parliament who form the national government in New Delhi.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3790" y="5107067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1020604" y="533388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State Governments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20604" y="5824299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State Legislative Assembly elections elect representatives who form state governments and govern regional affairs.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04392" y="456486"/>
            <a:ext cx="5600700" cy="49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Lok Sabha Election Process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04392" y="2299335"/>
            <a:ext cx="2395895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Every Five Years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1804392" y="2711172"/>
            <a:ext cx="3604260" cy="653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General elections to the Lok Sabha, India's lower house of Parliament, are conducted every five years unless dissolved earlier.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804392" y="3465671"/>
            <a:ext cx="3604260" cy="731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846 million voters participated in 2019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Over 1 million polling stations nationwide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Electronic Voting Machines used everywhere</a:t>
            </a:r>
            <a:endParaRPr lang="en-US" sz="12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5845" y="1250752"/>
            <a:ext cx="7027545" cy="39222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04392" y="6599515"/>
            <a:ext cx="11021497" cy="22860"/>
          </a:xfrm>
          <a:prstGeom prst="roundRect">
            <a:avLst>
              <a:gd name="adj" fmla="val 104811"/>
            </a:avLst>
          </a:prstGeom>
          <a:solidFill>
            <a:srgbClr val="D6D3CC"/>
          </a:solidFill>
          <a:ln/>
        </p:spPr>
      </p:sp>
      <p:sp>
        <p:nvSpPr>
          <p:cNvPr id="8" name="Shape 5"/>
          <p:cNvSpPr/>
          <p:nvPr/>
        </p:nvSpPr>
        <p:spPr>
          <a:xfrm>
            <a:off x="3955018" y="6120408"/>
            <a:ext cx="22860" cy="479108"/>
          </a:xfrm>
          <a:prstGeom prst="roundRect">
            <a:avLst>
              <a:gd name="adj" fmla="val 104811"/>
            </a:avLst>
          </a:prstGeom>
          <a:solidFill>
            <a:srgbClr val="D6D3CC"/>
          </a:solidFill>
          <a:ln/>
        </p:spPr>
      </p:sp>
      <p:sp>
        <p:nvSpPr>
          <p:cNvPr id="9" name="Shape 6"/>
          <p:cNvSpPr/>
          <p:nvPr/>
        </p:nvSpPr>
        <p:spPr>
          <a:xfrm>
            <a:off x="3786783" y="6419850"/>
            <a:ext cx="359331" cy="359331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0" name="Text 7"/>
          <p:cNvSpPr/>
          <p:nvPr/>
        </p:nvSpPr>
        <p:spPr>
          <a:xfrm>
            <a:off x="3846671" y="6449794"/>
            <a:ext cx="23955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2968228" y="5425916"/>
            <a:ext cx="1996559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Nomination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964055" y="5742861"/>
            <a:ext cx="4004905" cy="21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Candidates file papers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187440" y="6599515"/>
            <a:ext cx="22860" cy="479108"/>
          </a:xfrm>
          <a:prstGeom prst="roundRect">
            <a:avLst>
              <a:gd name="adj" fmla="val 104811"/>
            </a:avLst>
          </a:prstGeom>
          <a:solidFill>
            <a:srgbClr val="D6D3CC"/>
          </a:solidFill>
          <a:ln/>
        </p:spPr>
      </p:sp>
      <p:sp>
        <p:nvSpPr>
          <p:cNvPr id="14" name="Shape 11"/>
          <p:cNvSpPr/>
          <p:nvPr/>
        </p:nvSpPr>
        <p:spPr>
          <a:xfrm>
            <a:off x="6019205" y="6419850"/>
            <a:ext cx="359331" cy="359331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15" name="Text 12"/>
          <p:cNvSpPr/>
          <p:nvPr/>
        </p:nvSpPr>
        <p:spPr>
          <a:xfrm>
            <a:off x="6079093" y="6449794"/>
            <a:ext cx="23955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200531" y="7238405"/>
            <a:ext cx="1996559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Campaigning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196358" y="7555349"/>
            <a:ext cx="4005024" cy="21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Parties present manifestos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19862" y="6120408"/>
            <a:ext cx="22860" cy="479108"/>
          </a:xfrm>
          <a:prstGeom prst="roundRect">
            <a:avLst>
              <a:gd name="adj" fmla="val 104811"/>
            </a:avLst>
          </a:prstGeom>
          <a:solidFill>
            <a:srgbClr val="D6D3CC"/>
          </a:solidFill>
          <a:ln/>
        </p:spPr>
      </p:sp>
      <p:sp>
        <p:nvSpPr>
          <p:cNvPr id="19" name="Shape 16"/>
          <p:cNvSpPr/>
          <p:nvPr/>
        </p:nvSpPr>
        <p:spPr>
          <a:xfrm>
            <a:off x="8251627" y="6419850"/>
            <a:ext cx="359331" cy="359331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20" name="Text 17"/>
          <p:cNvSpPr/>
          <p:nvPr/>
        </p:nvSpPr>
        <p:spPr>
          <a:xfrm>
            <a:off x="8311515" y="6449794"/>
            <a:ext cx="23955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7432953" y="5425916"/>
            <a:ext cx="1996559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Voting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6428780" y="5742861"/>
            <a:ext cx="4005024" cy="21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Days of polling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10652284" y="6599515"/>
            <a:ext cx="22860" cy="479108"/>
          </a:xfrm>
          <a:prstGeom prst="roundRect">
            <a:avLst>
              <a:gd name="adj" fmla="val 104811"/>
            </a:avLst>
          </a:prstGeom>
          <a:solidFill>
            <a:srgbClr val="D6D3CC"/>
          </a:solidFill>
          <a:ln/>
        </p:spPr>
      </p:sp>
      <p:sp>
        <p:nvSpPr>
          <p:cNvPr id="24" name="Shape 21"/>
          <p:cNvSpPr/>
          <p:nvPr/>
        </p:nvSpPr>
        <p:spPr>
          <a:xfrm>
            <a:off x="10484048" y="6419850"/>
            <a:ext cx="359331" cy="359331"/>
          </a:xfrm>
          <a:prstGeom prst="roundRect">
            <a:avLst>
              <a:gd name="adj" fmla="val 6668"/>
            </a:avLst>
          </a:prstGeom>
          <a:solidFill>
            <a:srgbClr val="F0EDE6"/>
          </a:solidFill>
          <a:ln/>
        </p:spPr>
      </p:sp>
      <p:sp>
        <p:nvSpPr>
          <p:cNvPr id="25" name="Text 22"/>
          <p:cNvSpPr/>
          <p:nvPr/>
        </p:nvSpPr>
        <p:spPr>
          <a:xfrm>
            <a:off x="10543937" y="6449794"/>
            <a:ext cx="239554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4</a:t>
            </a:r>
            <a:endParaRPr lang="en-US" sz="1850" dirty="0"/>
          </a:p>
        </p:txBody>
      </p:sp>
      <p:sp>
        <p:nvSpPr>
          <p:cNvPr id="26" name="Text 23"/>
          <p:cNvSpPr/>
          <p:nvPr/>
        </p:nvSpPr>
        <p:spPr>
          <a:xfrm>
            <a:off x="9665375" y="7238405"/>
            <a:ext cx="1996559" cy="249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Counting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8661202" y="7555349"/>
            <a:ext cx="4005024" cy="217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Results announced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4179"/>
            <a:ext cx="960239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Real Impact: 2019 Lok Sabha Elections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690938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67%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273260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59590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Voter Turnout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44949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Record participation across 543 constituencies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690938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2300+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273260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59590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Political Parties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44949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Competing for seats in the world's largest democratic exercise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690938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91M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273260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59590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First-Time Voters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449497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Young citizens exercising their democratic right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9011" y="986076"/>
            <a:ext cx="4707374" cy="588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Takeaways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59011" y="1808917"/>
            <a:ext cx="18823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59011" y="2105978"/>
            <a:ext cx="7825978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6" name="Text 3"/>
          <p:cNvSpPr/>
          <p:nvPr/>
        </p:nvSpPr>
        <p:spPr>
          <a:xfrm>
            <a:off x="659011" y="2245757"/>
            <a:ext cx="2712720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Foundation of Democracy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59011" y="2633663"/>
            <a:ext cx="7825978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Elections enable citizens to choose representatives and form governments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59011" y="3206591"/>
            <a:ext cx="18823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9011" y="3503652"/>
            <a:ext cx="7825978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0" name="Text 7"/>
          <p:cNvSpPr/>
          <p:nvPr/>
        </p:nvSpPr>
        <p:spPr>
          <a:xfrm>
            <a:off x="659011" y="3643432"/>
            <a:ext cx="2353628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Practical Necessity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59011" y="4031337"/>
            <a:ext cx="7825978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With 1.4 billion people, elections provide the only feasible method of governance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59011" y="4604266"/>
            <a:ext cx="18823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9011" y="4901327"/>
            <a:ext cx="7825978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4" name="Text 11"/>
          <p:cNvSpPr/>
          <p:nvPr/>
        </p:nvSpPr>
        <p:spPr>
          <a:xfrm>
            <a:off x="659011" y="5041106"/>
            <a:ext cx="2353628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Universal Franchise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59011" y="5429012"/>
            <a:ext cx="7825978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Every citizen aged 18+ can vote without discrimination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59011" y="6001941"/>
            <a:ext cx="188238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59011" y="6299002"/>
            <a:ext cx="7825978" cy="2286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8" name="Text 15"/>
          <p:cNvSpPr/>
          <p:nvPr/>
        </p:nvSpPr>
        <p:spPr>
          <a:xfrm>
            <a:off x="659011" y="6438781"/>
            <a:ext cx="2353628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Peaceful Transfer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659011" y="6826687"/>
            <a:ext cx="7825978" cy="2755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Ensures stable, accountable government through democratic mandate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2026-03-30T19:01:17Z</dcterms:created>
  <dcterms:modified xsi:type="dcterms:W3CDTF">2026-03-30T19:01:17Z</dcterms:modified>
</cp:coreProperties>
</file>