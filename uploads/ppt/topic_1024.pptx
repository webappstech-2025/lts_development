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the Polling Process &amp; Voting Mechanism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guide to how elections are conducted, from announcement to result declaration, ensuring fair and transparent democratic participation.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5396" y="1013579"/>
            <a:ext cx="6623566" cy="547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Eight Stages of an Election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65396" y="1832610"/>
            <a:ext cx="1209960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Elections follow a structured timeline to ensure fairness, transparency, and orderly conduct from nomination to result declaration.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65396" y="2233732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65396" y="2508885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265396" y="2642235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Announcement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65396" y="2997518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Election Commission announces official schedule and key dates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82947" y="2233732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82947" y="2508885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382947" y="2642235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Nomination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82947" y="2997518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file nomination papers to contest the election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65396" y="3513177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65396" y="3788331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1265396" y="3921681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Scrutiny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5396" y="4276963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and validation of all nominations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82947" y="3513177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82947" y="3788331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382947" y="3921681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Withdrawal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82947" y="4276963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exercise option to withdraw from contest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65396" y="4792623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65396" y="5067776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1265396" y="5201126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Campaigning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65396" y="5556409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Political parties actively promote their candidates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82947" y="4792623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82947" y="5067776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7382947" y="5201126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Polling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82947" y="5556409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Voting takes place at designated polling stations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65396" y="6072068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265396" y="6347222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0" name="Text 28"/>
          <p:cNvSpPr/>
          <p:nvPr/>
        </p:nvSpPr>
        <p:spPr>
          <a:xfrm>
            <a:off x="1265396" y="6480572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65396" y="6835854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Collected votes are systematically counted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382947" y="6072068"/>
            <a:ext cx="17526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382947" y="6347222"/>
            <a:ext cx="59820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4" name="Text 32"/>
          <p:cNvSpPr/>
          <p:nvPr/>
        </p:nvSpPr>
        <p:spPr>
          <a:xfrm>
            <a:off x="7382947" y="6480572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 Declaration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382947" y="6835854"/>
            <a:ext cx="5982057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Winner is officially declared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1783" y="1270992"/>
            <a:ext cx="7161728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Polling Day: Rules &amp; Procedures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83" y="2245281"/>
            <a:ext cx="8140422" cy="4543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31072" y="2343507"/>
            <a:ext cx="3275171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Peaceful Voting Environment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31072" y="2783443"/>
            <a:ext cx="4174927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 enforcement ensures order and security at all polling locations throughout voting hours.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31072" y="3471743"/>
            <a:ext cx="2508528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Campaigning Zone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31072" y="3911679"/>
            <a:ext cx="4174927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prohibition on campaigning within 100 metres of polling booths to maintain neutrality.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531072" y="4599980"/>
            <a:ext cx="231278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Identity Verification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31072" y="5039916"/>
            <a:ext cx="4174927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Voters must present valid photo identification before casting their ballot.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531072" y="5728216"/>
            <a:ext cx="2336006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Secret Ballot System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31072" y="6168152"/>
            <a:ext cx="4174927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voting booths protect voter privacy and prevent coercion or influence.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701" y="1374696"/>
            <a:ext cx="5526881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Electronic Voting Machines (EVM)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64701" y="1906191"/>
            <a:ext cx="8214598" cy="1178957"/>
          </a:xfrm>
          <a:prstGeom prst="roundRect">
            <a:avLst>
              <a:gd name="adj" fmla="val 473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076" y="2046565"/>
            <a:ext cx="398264" cy="398264"/>
          </a:xfrm>
          <a:prstGeom prst="roundRect">
            <a:avLst>
              <a:gd name="adj" fmla="val 22957349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613" y="2156103"/>
            <a:ext cx="179189" cy="1791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5076" y="2522458"/>
            <a:ext cx="1659612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Speed &amp; Efficiency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05076" y="2776418"/>
            <a:ext cx="7933849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EVMs process votes instantly, significantly reducing counting time compared to paper ballots.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64701" y="3162776"/>
            <a:ext cx="8214598" cy="1178957"/>
          </a:xfrm>
          <a:prstGeom prst="roundRect">
            <a:avLst>
              <a:gd name="adj" fmla="val 473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05076" y="3303151"/>
            <a:ext cx="398264" cy="398264"/>
          </a:xfrm>
          <a:prstGeom prst="roundRect">
            <a:avLst>
              <a:gd name="adj" fmla="val 22957349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613" y="3412688"/>
            <a:ext cx="179189" cy="1791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076" y="3779044"/>
            <a:ext cx="1759982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 &amp; Reliability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05076" y="4033004"/>
            <a:ext cx="7933849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recording eliminates human errors in vote counting and tabulation processes.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4701" y="4419362"/>
            <a:ext cx="8214598" cy="1178957"/>
          </a:xfrm>
          <a:prstGeom prst="roundRect">
            <a:avLst>
              <a:gd name="adj" fmla="val 473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5076" y="4559737"/>
            <a:ext cx="398264" cy="398264"/>
          </a:xfrm>
          <a:prstGeom prst="roundRect">
            <a:avLst>
              <a:gd name="adj" fmla="val 22957349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613" y="4669274"/>
            <a:ext cx="179189" cy="17918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5076" y="5035629"/>
            <a:ext cx="1659612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Fraud Prevention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05076" y="5289590"/>
            <a:ext cx="7933849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design and tamper-proof mechanisms reduce ballot stuffing and electoral fraud.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64701" y="5675948"/>
            <a:ext cx="8214598" cy="1178957"/>
          </a:xfrm>
          <a:prstGeom prst="roundRect">
            <a:avLst>
              <a:gd name="adj" fmla="val 473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05076" y="5816322"/>
            <a:ext cx="398264" cy="398264"/>
          </a:xfrm>
          <a:prstGeom prst="roundRect">
            <a:avLst>
              <a:gd name="adj" fmla="val 22957349"/>
            </a:avLst>
          </a:prstGeom>
          <a:solidFill>
            <a:srgbClr val="4950B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613" y="5925860"/>
            <a:ext cx="179189" cy="17918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5076" y="6292215"/>
            <a:ext cx="1659612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Voter Accessibility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05076" y="6546175"/>
            <a:ext cx="7933849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button interface makes voting accessible to all, including elderly and differently-abled voters.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6666905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NOTA: None of the Above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434709"/>
            <a:ext cx="4073723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Empowering Voter Choice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49856" y="3038713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in 2013, NOTA provides voters with a democratic option to reject all candidates if none meet their expectations or standards.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3907869"/>
            <a:ext cx="279023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Significance of NOTA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4445079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Expresses dissatisfaction with available candidates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voter's right to reject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Encourages political parties to field better candidates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voter sentiment without affecting electoral outcome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56" y="6173272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NOTA votes do not influence who wins the election, but they serve as a powerful indicator of voter dissatisfaction.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033" y="779621"/>
            <a:ext cx="7851934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Election Officials: Ensuring Fair Conduct</a:t>
            </a:r>
            <a:endParaRPr lang="en-US" sz="3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033" y="2158603"/>
            <a:ext cx="461486" cy="4614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6033" y="2807851"/>
            <a:ext cx="2307550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Presiding Officer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46033" y="3186351"/>
            <a:ext cx="785193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official in charge of entire polling station, responsible for overall conduct and resolving disputes during voting.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033" y="4022527"/>
            <a:ext cx="461486" cy="4614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033" y="4671774"/>
            <a:ext cx="2307550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Polling Officers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46033" y="5050274"/>
            <a:ext cx="785193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 Presiding Officer with voter verification, queue management, and operational support at polling stations.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033" y="5886450"/>
            <a:ext cx="461486" cy="4614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6033" y="6535698"/>
            <a:ext cx="2307550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Election Observers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46033" y="6914198"/>
            <a:ext cx="785193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monitors deployed to oversee polling and counting processes, ensuring compliance with electoral laws.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3198" y="977622"/>
            <a:ext cx="6692027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Ensuring Fairness &amp; Transparency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1773198" y="2252543"/>
            <a:ext cx="3624620" cy="1389817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56673" y="2436019"/>
            <a:ext cx="2289691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Arrangements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956673" y="2800588"/>
            <a:ext cx="3257669" cy="658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 enforcement deployed to prevent violence, intimidation, and electoral malpractice at polling locations.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73198" y="3756065"/>
            <a:ext cx="3624620" cy="1389817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56673" y="3939540"/>
            <a:ext cx="3177897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Election Commission Monitoring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956673" y="4304109"/>
            <a:ext cx="3257669" cy="658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and state election commissions continuously monitor processes through surveillance and reporting systems.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73198" y="5259586"/>
            <a:ext cx="3624620" cy="1389817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673" y="5443061"/>
            <a:ext cx="2007870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 Accreditation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956673" y="5807631"/>
            <a:ext cx="3257669" cy="658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Accredited journalists and media persons allowed to report from polling stations within prescribed guidelines.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391" y="1778079"/>
            <a:ext cx="7067312" cy="394454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97391" y="5850493"/>
            <a:ext cx="2174558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Additional Safeguards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797391" y="6215062"/>
            <a:ext cx="7067312" cy="99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VVPAT (Voter Verifiable Paper Audit Trail) for random verification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and agents allowed to observe polling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Sealing of EVMs with multiple layers of security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surveillance at sensitive polling stations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8009" y="809506"/>
            <a:ext cx="5762744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Complete Election Timeline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68009" y="1471970"/>
            <a:ext cx="10294263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announcement to result, the election process follows a carefully orchestrated sequence to ensure democratic integrity.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07461" y="1780103"/>
            <a:ext cx="15240" cy="5639872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6714946" y="1940243"/>
            <a:ext cx="447556" cy="15240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7147262" y="1780103"/>
            <a:ext cx="335637" cy="33563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03162" y="1808024"/>
            <a:ext cx="22371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419481" y="1831300"/>
            <a:ext cx="2149673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1: Announcement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168009" y="2123122"/>
            <a:ext cx="4401145" cy="395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Election Commission releases official notification and schedule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67660" y="2733199"/>
            <a:ext cx="447556" cy="15240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7147262" y="2573060"/>
            <a:ext cx="335637" cy="33563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3162" y="2600980"/>
            <a:ext cx="22371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061008" y="2624257"/>
            <a:ext cx="2039779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2-3: Nomination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61008" y="2916079"/>
            <a:ext cx="4401264" cy="395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submit papers; scrutiny committee reviews eligibility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14946" y="3453646"/>
            <a:ext cx="447556" cy="15240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47262" y="3293507"/>
            <a:ext cx="335637" cy="33563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3162" y="3321427"/>
            <a:ext cx="22371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704278" y="3344704"/>
            <a:ext cx="1864876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4: Withdrawal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168009" y="3636526"/>
            <a:ext cx="4401145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date for candidates to withdraw nominations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67660" y="4174093"/>
            <a:ext cx="447556" cy="15240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47262" y="4013954"/>
            <a:ext cx="335637" cy="33563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3162" y="4041874"/>
            <a:ext cx="22371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061008" y="4065151"/>
            <a:ext cx="2177891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5-7: Campaigning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61008" y="4356973"/>
            <a:ext cx="440126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Intensive election campaigns across constituencies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14946" y="4894540"/>
            <a:ext cx="447556" cy="15240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26" name="Shape 24"/>
          <p:cNvSpPr/>
          <p:nvPr/>
        </p:nvSpPr>
        <p:spPr>
          <a:xfrm>
            <a:off x="7147262" y="4734401"/>
            <a:ext cx="335637" cy="33563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3162" y="4762321"/>
            <a:ext cx="22371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4704278" y="4785598"/>
            <a:ext cx="1864876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8: Polling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168009" y="5077420"/>
            <a:ext cx="4401145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Voting conducted at designated polling stations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67660" y="5614988"/>
            <a:ext cx="447556" cy="15240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31" name="Shape 29"/>
          <p:cNvSpPr/>
          <p:nvPr/>
        </p:nvSpPr>
        <p:spPr>
          <a:xfrm>
            <a:off x="7147262" y="5454848"/>
            <a:ext cx="335637" cy="33563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3162" y="5482769"/>
            <a:ext cx="22371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061008" y="5506045"/>
            <a:ext cx="1864876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9: Counting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061008" y="5797868"/>
            <a:ext cx="440126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Simultaneous counting at counting centres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14946" y="6335435"/>
            <a:ext cx="447556" cy="15240"/>
          </a:xfrm>
          <a:prstGeom prst="roundRect">
            <a:avLst>
              <a:gd name="adj" fmla="val 411161"/>
            </a:avLst>
          </a:prstGeom>
          <a:solidFill>
            <a:srgbClr val="C0C1D7"/>
          </a:solidFill>
          <a:ln/>
        </p:spPr>
      </p:sp>
      <p:sp>
        <p:nvSpPr>
          <p:cNvPr id="36" name="Shape 34"/>
          <p:cNvSpPr/>
          <p:nvPr/>
        </p:nvSpPr>
        <p:spPr>
          <a:xfrm>
            <a:off x="7147262" y="6175296"/>
            <a:ext cx="335637" cy="33563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3162" y="6203216"/>
            <a:ext cx="22371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4704278" y="6226493"/>
            <a:ext cx="1864876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9: Results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2168009" y="6518315"/>
            <a:ext cx="4401145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Winners declared and results published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865" y="860941"/>
            <a:ext cx="4803338" cy="600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58865" y="1705332"/>
            <a:ext cx="7799070" cy="1364813"/>
          </a:xfrm>
          <a:prstGeom prst="roundRect">
            <a:avLst>
              <a:gd name="adj" fmla="val 59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8533" y="1905000"/>
            <a:ext cx="2401610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Process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58533" y="2302788"/>
            <a:ext cx="7399734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distinct stages ensure systematic and transparent election conduct from start to finish.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8865" y="3232785"/>
            <a:ext cx="7799070" cy="1364813"/>
          </a:xfrm>
          <a:prstGeom prst="roundRect">
            <a:avLst>
              <a:gd name="adj" fmla="val 59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8533" y="3432453"/>
            <a:ext cx="2647593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&amp; Security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58533" y="3830241"/>
            <a:ext cx="7399734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EVMs combined with robust security measures guarantee accurate, fraud-resistant voting.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8865" y="4760238"/>
            <a:ext cx="7799070" cy="1080968"/>
          </a:xfrm>
          <a:prstGeom prst="roundRect">
            <a:avLst>
              <a:gd name="adj" fmla="val 74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8533" y="4959906"/>
            <a:ext cx="2401610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Democratic Rights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58533" y="5357693"/>
            <a:ext cx="7399734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and secret ballot empower voters with choice and privacy protection.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8865" y="6003846"/>
            <a:ext cx="7799070" cy="1364813"/>
          </a:xfrm>
          <a:prstGeom prst="roundRect">
            <a:avLst>
              <a:gd name="adj" fmla="val 59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8533" y="6203513"/>
            <a:ext cx="2401610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Official Oversight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358533" y="6601301"/>
            <a:ext cx="7399734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Multi-layered monitoring by officials, observers, and commissions ensures fairness.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895" y="537329"/>
            <a:ext cx="7336512" cy="610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Role as an Informed Voter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3895" y="2502813"/>
            <a:ext cx="2931081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Stay Informed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3895" y="3037403"/>
            <a:ext cx="4331970" cy="163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polling station location and timings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valid photo identification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candidate manifestos and credentials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rights at polling stations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3895" y="4836438"/>
            <a:ext cx="3387328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Participate Responsibly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83895" y="5371028"/>
            <a:ext cx="4331970" cy="1339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your franchise without influence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peace at polling locations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election officials and procedures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any malpractice to authorities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211" y="1589603"/>
            <a:ext cx="8453795" cy="471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00211" y="6497241"/>
            <a:ext cx="2442567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Every Vote Matters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00211" y="6970871"/>
            <a:ext cx="8453795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participation shapes democracy. Register, verify eligibility, and vote to influence the future of your constituency and nation.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2026-03-30T19:07:57Z</dcterms:created>
  <dcterms:modified xsi:type="dcterms:W3CDTF">2026-03-30T19:07:57Z</dcterms:modified>
</cp:coreProperties>
</file>